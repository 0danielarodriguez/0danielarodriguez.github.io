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85" r:id="rId4"/>
    <p:sldId id="302" r:id="rId5"/>
    <p:sldId id="307" r:id="rId6"/>
    <p:sldId id="308" r:id="rId7"/>
    <p:sldId id="309" r:id="rId8"/>
    <p:sldId id="303" r:id="rId9"/>
    <p:sldId id="304" r:id="rId10"/>
    <p:sldId id="305" r:id="rId11"/>
    <p:sldId id="306" r:id="rId12"/>
    <p:sldId id="312" r:id="rId13"/>
    <p:sldId id="316" r:id="rId14"/>
    <p:sldId id="315" r:id="rId15"/>
    <p:sldId id="314" r:id="rId16"/>
    <p:sldId id="317" r:id="rId17"/>
    <p:sldId id="279" r:id="rId18"/>
    <p:sldId id="329" r:id="rId19"/>
    <p:sldId id="410" r:id="rId20"/>
    <p:sldId id="310" r:id="rId21"/>
    <p:sldId id="311" r:id="rId22"/>
    <p:sldId id="280" r:id="rId23"/>
    <p:sldId id="281" r:id="rId24"/>
    <p:sldId id="334" r:id="rId25"/>
    <p:sldId id="335" r:id="rId26"/>
    <p:sldId id="340" r:id="rId27"/>
    <p:sldId id="341" r:id="rId28"/>
    <p:sldId id="338" r:id="rId29"/>
    <p:sldId id="376" r:id="rId30"/>
    <p:sldId id="377" r:id="rId31"/>
    <p:sldId id="378" r:id="rId32"/>
    <p:sldId id="379" r:id="rId33"/>
    <p:sldId id="342" r:id="rId34"/>
    <p:sldId id="381" r:id="rId35"/>
    <p:sldId id="343" r:id="rId36"/>
    <p:sldId id="344" r:id="rId37"/>
    <p:sldId id="382" r:id="rId38"/>
    <p:sldId id="348" r:id="rId39"/>
    <p:sldId id="383" r:id="rId40"/>
    <p:sldId id="260" r:id="rId41"/>
    <p:sldId id="313" r:id="rId42"/>
    <p:sldId id="261" r:id="rId43"/>
    <p:sldId id="323" r:id="rId44"/>
    <p:sldId id="320" r:id="rId45"/>
    <p:sldId id="326" r:id="rId46"/>
    <p:sldId id="322" r:id="rId47"/>
    <p:sldId id="327" r:id="rId48"/>
    <p:sldId id="351" r:id="rId49"/>
    <p:sldId id="353" r:id="rId50"/>
    <p:sldId id="352" r:id="rId51"/>
    <p:sldId id="359" r:id="rId52"/>
    <p:sldId id="262" r:id="rId53"/>
    <p:sldId id="354" r:id="rId54"/>
    <p:sldId id="407" r:id="rId55"/>
    <p:sldId id="411" r:id="rId56"/>
    <p:sldId id="355" r:id="rId57"/>
    <p:sldId id="356" r:id="rId58"/>
    <p:sldId id="357" r:id="rId59"/>
    <p:sldId id="358" r:id="rId60"/>
    <p:sldId id="284" r:id="rId61"/>
    <p:sldId id="360" r:id="rId62"/>
    <p:sldId id="361" r:id="rId63"/>
    <p:sldId id="363" r:id="rId64"/>
    <p:sldId id="384" r:id="rId65"/>
    <p:sldId id="318" r:id="rId66"/>
    <p:sldId id="390" r:id="rId67"/>
    <p:sldId id="386" r:id="rId68"/>
    <p:sldId id="387" r:id="rId69"/>
    <p:sldId id="388" r:id="rId70"/>
    <p:sldId id="364" r:id="rId71"/>
    <p:sldId id="389" r:id="rId72"/>
    <p:sldId id="391" r:id="rId73"/>
    <p:sldId id="392" r:id="rId74"/>
    <p:sldId id="393" r:id="rId75"/>
    <p:sldId id="396" r:id="rId76"/>
    <p:sldId id="366" r:id="rId77"/>
    <p:sldId id="397" r:id="rId78"/>
    <p:sldId id="398" r:id="rId79"/>
    <p:sldId id="399" r:id="rId80"/>
    <p:sldId id="368" r:id="rId81"/>
    <p:sldId id="400" r:id="rId82"/>
    <p:sldId id="259" r:id="rId83"/>
    <p:sldId id="409" r:id="rId84"/>
    <p:sldId id="408" r:id="rId85"/>
    <p:sldId id="369" r:id="rId86"/>
    <p:sldId id="371" r:id="rId87"/>
    <p:sldId id="404" r:id="rId88"/>
    <p:sldId id="405" r:id="rId89"/>
    <p:sldId id="406" r:id="rId90"/>
    <p:sldId id="372" r:id="rId91"/>
    <p:sldId id="403" r:id="rId92"/>
    <p:sldId id="264" r:id="rId93"/>
    <p:sldId id="269" r:id="rId94"/>
    <p:sldId id="330" r:id="rId95"/>
    <p:sldId id="283" r:id="rId96"/>
    <p:sldId id="331" r:id="rId97"/>
    <p:sldId id="332" r:id="rId98"/>
    <p:sldId id="350" r:id="rId99"/>
    <p:sldId id="324" r:id="rId100"/>
    <p:sldId id="328" r:id="rId101"/>
    <p:sldId id="275" r:id="rId102"/>
    <p:sldId id="349" r:id="rId103"/>
  </p:sldIdLst>
  <p:sldSz cx="9144000" cy="6858000" type="screen4x3"/>
  <p:notesSz cx="7559675" cy="10691813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0C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tableStyles" Target="tableStyle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34" name="Imagen 33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5" name="Imagen 34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70" name="Imagen 69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1" name="Imagen 70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AR" sz="4400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s-AR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s-AR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s-AR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s-AR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s-AR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s-AR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s-AR" sz="2000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AR" sz="4400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s-AR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s-AR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s-AR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s-AR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s-AR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s-AR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s-AR" sz="2000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ina12.com.ar/diario/contratapa/13-97003-2008-01-04.html" TargetMode="External"/><Relationship Id="rId2" Type="http://schemas.openxmlformats.org/officeDocument/2006/relationships/hyperlink" Target="http://discovermagazine.com/1998/dec/frommuhammadalit1553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research.fb.com/three-and-a-half-degrees-of-separation" TargetMode="External"/><Relationship Id="rId5" Type="http://schemas.openxmlformats.org/officeDocument/2006/relationships/hyperlink" Target="http://labs.yahoo.com/files/w_s_NATURE_0.pdf" TargetMode="External"/><Relationship Id="rId4" Type="http://schemas.openxmlformats.org/officeDocument/2006/relationships/hyperlink" Target="https://en.wikipedia.org/wiki/Duncan_J._Watts" TargetMode="Externa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652320" y="1482840"/>
            <a:ext cx="7771680" cy="1469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endParaRPr dirty="0"/>
          </a:p>
          <a:p>
            <a:pPr algn="ctr"/>
            <a:r>
              <a:rPr lang="es-AR" sz="6000" dirty="0">
                <a:solidFill>
                  <a:srgbClr val="FF6600"/>
                </a:solidFill>
                <a:latin typeface="Comic Sans MS" panose="030F0702030302020204" pitchFamily="66" charset="0"/>
              </a:rPr>
              <a:t>El problema del mundo pequeño</a:t>
            </a:r>
            <a:endParaRPr dirty="0">
              <a:latin typeface="Comic Sans MS" panose="030F0702030302020204" pitchFamily="66" charset="0"/>
            </a:endParaRPr>
          </a:p>
          <a:p>
            <a:endParaRPr dirty="0"/>
          </a:p>
          <a:p>
            <a:endParaRPr dirty="0"/>
          </a:p>
          <a:p>
            <a:pPr algn="ctr">
              <a:lnSpc>
                <a:spcPct val="100000"/>
              </a:lnSpc>
            </a:pPr>
            <a:endParaRPr dirty="0"/>
          </a:p>
        </p:txBody>
      </p:sp>
      <p:sp>
        <p:nvSpPr>
          <p:cNvPr id="73" name="CustomShape 2"/>
          <p:cNvSpPr/>
          <p:nvPr/>
        </p:nvSpPr>
        <p:spPr>
          <a:xfrm>
            <a:off x="3713872" y="4730265"/>
            <a:ext cx="6400080" cy="1751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dirty="0"/>
          </a:p>
          <a:p>
            <a:pPr algn="ctr">
              <a:lnSpc>
                <a:spcPct val="100000"/>
              </a:lnSpc>
            </a:pPr>
            <a:r>
              <a:rPr lang="es-AR" sz="3200" dirty="0">
                <a:solidFill>
                  <a:srgbClr val="7030A0"/>
                </a:solidFill>
                <a:latin typeface="Comic Sans MS" panose="030F0702030302020204" pitchFamily="66" charset="0"/>
              </a:rPr>
              <a:t>Daniela </a:t>
            </a:r>
            <a:r>
              <a:rPr lang="es-AR" sz="3200" dirty="0" err="1">
                <a:solidFill>
                  <a:srgbClr val="7030A0"/>
                </a:solidFill>
                <a:latin typeface="Comic Sans MS" panose="030F0702030302020204" pitchFamily="66" charset="0"/>
              </a:rPr>
              <a:t>Rodriguez</a:t>
            </a:r>
            <a:endParaRPr sz="3200" dirty="0">
              <a:solidFill>
                <a:srgbClr val="7030A0"/>
              </a:solidFill>
              <a:latin typeface="Comic Sans MS" panose="030F0702030302020204" pitchFamily="66" charset="0"/>
            </a:endParaRPr>
          </a:p>
          <a:p>
            <a:pPr algn="ctr">
              <a:lnSpc>
                <a:spcPct val="100000"/>
              </a:lnSpc>
            </a:pPr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Semana de la matemática</a:t>
            </a:r>
          </a:p>
          <a:p>
            <a:pPr algn="ctr">
              <a:lnSpc>
                <a:spcPct val="100000"/>
              </a:lnSpc>
            </a:pPr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26 de abril de 2017</a:t>
            </a:r>
            <a:endParaRPr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77" name="TextShape 2"/>
          <p:cNvSpPr txBox="1"/>
          <p:nvPr/>
        </p:nvSpPr>
        <p:spPr>
          <a:xfrm>
            <a:off x="457200" y="144000"/>
            <a:ext cx="1918800" cy="590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endParaRPr dirty="0"/>
          </a:p>
          <a:p>
            <a:pPr>
              <a:buSzPct val="45000"/>
            </a:pPr>
            <a:endParaRPr lang="es-AR" sz="3200" dirty="0">
              <a:solidFill>
                <a:srgbClr val="FF6600"/>
              </a:solidFill>
              <a:latin typeface="Arial"/>
            </a:endParaRPr>
          </a:p>
          <a:p>
            <a:pPr>
              <a:buSzPct val="45000"/>
            </a:pPr>
            <a:r>
              <a:rPr lang="es-AR" sz="3200" dirty="0" smtClean="0">
                <a:solidFill>
                  <a:srgbClr val="FF6600"/>
                </a:solidFill>
                <a:latin typeface="Arial"/>
              </a:rPr>
              <a:t>1929</a:t>
            </a:r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lang="es-AR" sz="3200" dirty="0">
                <a:solidFill>
                  <a:srgbClr val="FF6600"/>
                </a:solidFill>
                <a:latin typeface="Arial"/>
              </a:rPr>
              <a:t>    </a:t>
            </a:r>
            <a:endParaRPr dirty="0"/>
          </a:p>
        </p:txBody>
      </p:sp>
      <p:sp>
        <p:nvSpPr>
          <p:cNvPr id="78" name="TextShape 3"/>
          <p:cNvSpPr txBox="1"/>
          <p:nvPr/>
        </p:nvSpPr>
        <p:spPr>
          <a:xfrm>
            <a:off x="2063499" y="293400"/>
            <a:ext cx="6192000" cy="583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endParaRPr sz="2800" dirty="0">
              <a:latin typeface="Comic Sans MS" panose="030F0702030302020204" pitchFamily="66" charset="0"/>
            </a:endParaRPr>
          </a:p>
          <a:p>
            <a:endParaRPr lang="es-AR" sz="28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s-AR" sz="2800" dirty="0" err="1" smtClean="0">
                <a:solidFill>
                  <a:srgbClr val="000000"/>
                </a:solidFill>
                <a:latin typeface="Comic Sans MS" panose="030F0702030302020204" pitchFamily="66" charset="0"/>
              </a:rPr>
              <a:t>Frigyes</a:t>
            </a:r>
            <a:r>
              <a:rPr lang="es-AR" sz="28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s-AR" sz="28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Karinthy</a:t>
            </a:r>
            <a:r>
              <a:rPr lang="es-AR" sz="2800" dirty="0">
                <a:latin typeface="Comic Sans MS" panose="030F0702030302020204" pitchFamily="66" charset="0"/>
              </a:rPr>
              <a:t> (escritor húngaro). </a:t>
            </a:r>
            <a:endParaRPr sz="28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escribió un cuento titulado “</a:t>
            </a:r>
            <a:r>
              <a:rPr lang="es-AR" sz="2800" dirty="0" err="1" smtClean="0">
                <a:latin typeface="Comic Sans MS" panose="030F0702030302020204" pitchFamily="66" charset="0"/>
              </a:rPr>
              <a:t>Láncszemek</a:t>
            </a:r>
            <a:r>
              <a:rPr lang="es-AR" sz="2800" dirty="0">
                <a:latin typeface="Comic Sans MS" panose="030F0702030302020204" pitchFamily="66" charset="0"/>
              </a:rPr>
              <a:t>” </a:t>
            </a:r>
            <a:r>
              <a:rPr lang="es-AR" sz="2800" dirty="0" smtClean="0">
                <a:latin typeface="Comic Sans MS" panose="030F0702030302020204" pitchFamily="66" charset="0"/>
              </a:rPr>
              <a:t>(eslabones) que postulaba esta teoría.</a:t>
            </a:r>
          </a:p>
          <a:p>
            <a:pPr algn="just"/>
            <a:endParaRPr lang="es-AR" sz="2800" i="1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s-AR" sz="2400" i="1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“</a:t>
            </a:r>
            <a:r>
              <a:rPr lang="es-AR" sz="2400" b="1" i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cualquiera en la Tierra puede estar conectado a cualquier otra persona mediante una cadena de conocidos con no más de cinco intermediarios</a:t>
            </a:r>
            <a:r>
              <a:rPr lang="es-AR" sz="2400" i="1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”</a:t>
            </a:r>
          </a:p>
          <a:p>
            <a:endParaRPr lang="es-AR" sz="3200" dirty="0">
              <a:latin typeface="Arial"/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23862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52" y="26151"/>
            <a:ext cx="7407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8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52" y="26151"/>
            <a:ext cx="7407975" cy="6858000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1148682" y="3298206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/>
          <p:cNvSpPr/>
          <p:nvPr/>
        </p:nvSpPr>
        <p:spPr>
          <a:xfrm>
            <a:off x="5518239" y="5265759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7009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52" y="26151"/>
            <a:ext cx="7407975" cy="6858000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1148682" y="3298206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/>
          <p:cNvSpPr/>
          <p:nvPr/>
        </p:nvSpPr>
        <p:spPr>
          <a:xfrm>
            <a:off x="5518239" y="5265759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/>
          <p:cNvSpPr/>
          <p:nvPr/>
        </p:nvSpPr>
        <p:spPr>
          <a:xfrm>
            <a:off x="1251039" y="1647959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4" name="Forma libre 63"/>
          <p:cNvSpPr/>
          <p:nvPr/>
        </p:nvSpPr>
        <p:spPr>
          <a:xfrm>
            <a:off x="340254" y="2483893"/>
            <a:ext cx="901692" cy="1228298"/>
          </a:xfrm>
          <a:custGeom>
            <a:avLst/>
            <a:gdLst>
              <a:gd name="connsiteX0" fmla="*/ 765215 w 901692"/>
              <a:gd name="connsiteY0" fmla="*/ 1228298 h 1228298"/>
              <a:gd name="connsiteX1" fmla="*/ 940 w 901692"/>
              <a:gd name="connsiteY1" fmla="*/ 668740 h 1228298"/>
              <a:gd name="connsiteX2" fmla="*/ 901692 w 901692"/>
              <a:gd name="connsiteY2" fmla="*/ 0 h 1228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692" h="1228298">
                <a:moveTo>
                  <a:pt x="765215" y="1228298"/>
                </a:moveTo>
                <a:cubicBezTo>
                  <a:pt x="371704" y="1050877"/>
                  <a:pt x="-21806" y="873456"/>
                  <a:pt x="940" y="668740"/>
                </a:cubicBezTo>
                <a:cubicBezTo>
                  <a:pt x="23686" y="464024"/>
                  <a:pt x="462689" y="232012"/>
                  <a:pt x="901692" y="0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997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52" y="26151"/>
            <a:ext cx="7407975" cy="6858000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1148682" y="3298206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/>
          <p:cNvSpPr/>
          <p:nvPr/>
        </p:nvSpPr>
        <p:spPr>
          <a:xfrm>
            <a:off x="5518239" y="5265759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/>
          <p:cNvSpPr/>
          <p:nvPr/>
        </p:nvSpPr>
        <p:spPr>
          <a:xfrm>
            <a:off x="3350522" y="352563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/>
          <p:cNvSpPr/>
          <p:nvPr/>
        </p:nvSpPr>
        <p:spPr>
          <a:xfrm>
            <a:off x="1251039" y="1647959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4" name="Forma libre 63"/>
          <p:cNvSpPr/>
          <p:nvPr/>
        </p:nvSpPr>
        <p:spPr>
          <a:xfrm>
            <a:off x="340254" y="2483893"/>
            <a:ext cx="901692" cy="1228298"/>
          </a:xfrm>
          <a:custGeom>
            <a:avLst/>
            <a:gdLst>
              <a:gd name="connsiteX0" fmla="*/ 765215 w 901692"/>
              <a:gd name="connsiteY0" fmla="*/ 1228298 h 1228298"/>
              <a:gd name="connsiteX1" fmla="*/ 940 w 901692"/>
              <a:gd name="connsiteY1" fmla="*/ 668740 h 1228298"/>
              <a:gd name="connsiteX2" fmla="*/ 901692 w 901692"/>
              <a:gd name="connsiteY2" fmla="*/ 0 h 1228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692" h="1228298">
                <a:moveTo>
                  <a:pt x="765215" y="1228298"/>
                </a:moveTo>
                <a:cubicBezTo>
                  <a:pt x="371704" y="1050877"/>
                  <a:pt x="-21806" y="873456"/>
                  <a:pt x="940" y="668740"/>
                </a:cubicBezTo>
                <a:cubicBezTo>
                  <a:pt x="23686" y="464024"/>
                  <a:pt x="462689" y="232012"/>
                  <a:pt x="901692" y="0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5" name="Forma libre 64"/>
          <p:cNvSpPr/>
          <p:nvPr/>
        </p:nvSpPr>
        <p:spPr>
          <a:xfrm>
            <a:off x="1544811" y="406300"/>
            <a:ext cx="1785243" cy="1176840"/>
          </a:xfrm>
          <a:custGeom>
            <a:avLst/>
            <a:gdLst>
              <a:gd name="connsiteX0" fmla="*/ 38329 w 1785243"/>
              <a:gd name="connsiteY0" fmla="*/ 1176840 h 1176840"/>
              <a:gd name="connsiteX1" fmla="*/ 229398 w 1785243"/>
              <a:gd name="connsiteY1" fmla="*/ 85019 h 1176840"/>
              <a:gd name="connsiteX2" fmla="*/ 1785243 w 1785243"/>
              <a:gd name="connsiteY2" fmla="*/ 153258 h 117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243" h="1176840">
                <a:moveTo>
                  <a:pt x="38329" y="1176840"/>
                </a:moveTo>
                <a:cubicBezTo>
                  <a:pt x="-11713" y="716228"/>
                  <a:pt x="-61754" y="255616"/>
                  <a:pt x="229398" y="85019"/>
                </a:cubicBezTo>
                <a:cubicBezTo>
                  <a:pt x="520550" y="-85578"/>
                  <a:pt x="1152896" y="33840"/>
                  <a:pt x="1785243" y="153258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118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52" y="26151"/>
            <a:ext cx="7407975" cy="6858000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1148682" y="3298206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/>
          <p:cNvSpPr/>
          <p:nvPr/>
        </p:nvSpPr>
        <p:spPr>
          <a:xfrm>
            <a:off x="5518239" y="5265759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/>
          <p:cNvSpPr/>
          <p:nvPr/>
        </p:nvSpPr>
        <p:spPr>
          <a:xfrm>
            <a:off x="3350522" y="352563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/>
          <p:cNvSpPr/>
          <p:nvPr/>
        </p:nvSpPr>
        <p:spPr>
          <a:xfrm>
            <a:off x="1251039" y="1647959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lipse 11"/>
          <p:cNvSpPr/>
          <p:nvPr/>
        </p:nvSpPr>
        <p:spPr>
          <a:xfrm>
            <a:off x="4389778" y="3455151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2" name="Forma libre 61"/>
          <p:cNvSpPr/>
          <p:nvPr/>
        </p:nvSpPr>
        <p:spPr>
          <a:xfrm>
            <a:off x="3041458" y="1364776"/>
            <a:ext cx="1366769" cy="2374711"/>
          </a:xfrm>
          <a:custGeom>
            <a:avLst/>
            <a:gdLst>
              <a:gd name="connsiteX0" fmla="*/ 452369 w 1366769"/>
              <a:gd name="connsiteY0" fmla="*/ 0 h 2374711"/>
              <a:gd name="connsiteX1" fmla="*/ 42936 w 1366769"/>
              <a:gd name="connsiteY1" fmla="*/ 1119117 h 2374711"/>
              <a:gd name="connsiteX2" fmla="*/ 1366769 w 1366769"/>
              <a:gd name="connsiteY2" fmla="*/ 2374711 h 2374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6769" h="2374711">
                <a:moveTo>
                  <a:pt x="452369" y="0"/>
                </a:moveTo>
                <a:cubicBezTo>
                  <a:pt x="171452" y="361666"/>
                  <a:pt x="-109464" y="723332"/>
                  <a:pt x="42936" y="1119117"/>
                </a:cubicBezTo>
                <a:cubicBezTo>
                  <a:pt x="195336" y="1514902"/>
                  <a:pt x="781052" y="1944806"/>
                  <a:pt x="1366769" y="2374711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4" name="Forma libre 63"/>
          <p:cNvSpPr/>
          <p:nvPr/>
        </p:nvSpPr>
        <p:spPr>
          <a:xfrm>
            <a:off x="340254" y="2483893"/>
            <a:ext cx="901692" cy="1228298"/>
          </a:xfrm>
          <a:custGeom>
            <a:avLst/>
            <a:gdLst>
              <a:gd name="connsiteX0" fmla="*/ 765215 w 901692"/>
              <a:gd name="connsiteY0" fmla="*/ 1228298 h 1228298"/>
              <a:gd name="connsiteX1" fmla="*/ 940 w 901692"/>
              <a:gd name="connsiteY1" fmla="*/ 668740 h 1228298"/>
              <a:gd name="connsiteX2" fmla="*/ 901692 w 901692"/>
              <a:gd name="connsiteY2" fmla="*/ 0 h 1228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692" h="1228298">
                <a:moveTo>
                  <a:pt x="765215" y="1228298"/>
                </a:moveTo>
                <a:cubicBezTo>
                  <a:pt x="371704" y="1050877"/>
                  <a:pt x="-21806" y="873456"/>
                  <a:pt x="940" y="668740"/>
                </a:cubicBezTo>
                <a:cubicBezTo>
                  <a:pt x="23686" y="464024"/>
                  <a:pt x="462689" y="232012"/>
                  <a:pt x="901692" y="0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5" name="Forma libre 64"/>
          <p:cNvSpPr/>
          <p:nvPr/>
        </p:nvSpPr>
        <p:spPr>
          <a:xfrm>
            <a:off x="1544811" y="406300"/>
            <a:ext cx="1785243" cy="1176840"/>
          </a:xfrm>
          <a:custGeom>
            <a:avLst/>
            <a:gdLst>
              <a:gd name="connsiteX0" fmla="*/ 38329 w 1785243"/>
              <a:gd name="connsiteY0" fmla="*/ 1176840 h 1176840"/>
              <a:gd name="connsiteX1" fmla="*/ 229398 w 1785243"/>
              <a:gd name="connsiteY1" fmla="*/ 85019 h 1176840"/>
              <a:gd name="connsiteX2" fmla="*/ 1785243 w 1785243"/>
              <a:gd name="connsiteY2" fmla="*/ 153258 h 117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243" h="1176840">
                <a:moveTo>
                  <a:pt x="38329" y="1176840"/>
                </a:moveTo>
                <a:cubicBezTo>
                  <a:pt x="-11713" y="716228"/>
                  <a:pt x="-61754" y="255616"/>
                  <a:pt x="229398" y="85019"/>
                </a:cubicBezTo>
                <a:cubicBezTo>
                  <a:pt x="520550" y="-85578"/>
                  <a:pt x="1152896" y="33840"/>
                  <a:pt x="1785243" y="153258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548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52" y="26151"/>
            <a:ext cx="7407975" cy="6858000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1148682" y="3298206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/>
          <p:cNvSpPr/>
          <p:nvPr/>
        </p:nvSpPr>
        <p:spPr>
          <a:xfrm>
            <a:off x="5518239" y="5265759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/>
          <p:cNvSpPr/>
          <p:nvPr/>
        </p:nvSpPr>
        <p:spPr>
          <a:xfrm>
            <a:off x="3350522" y="352563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/>
          <p:cNvSpPr/>
          <p:nvPr/>
        </p:nvSpPr>
        <p:spPr>
          <a:xfrm>
            <a:off x="1251039" y="1647959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6837525" y="2440665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lipse 11"/>
          <p:cNvSpPr/>
          <p:nvPr/>
        </p:nvSpPr>
        <p:spPr>
          <a:xfrm>
            <a:off x="4389778" y="3455151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6" name="Conector recto de flecha 15"/>
          <p:cNvCxnSpPr>
            <a:stCxn id="12" idx="6"/>
            <a:endCxn id="11" idx="3"/>
          </p:cNvCxnSpPr>
          <p:nvPr/>
        </p:nvCxnSpPr>
        <p:spPr>
          <a:xfrm flipV="1">
            <a:off x="5015303" y="3306583"/>
            <a:ext cx="1913828" cy="655811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orma libre 61"/>
          <p:cNvSpPr/>
          <p:nvPr/>
        </p:nvSpPr>
        <p:spPr>
          <a:xfrm>
            <a:off x="3041458" y="1364776"/>
            <a:ext cx="1366769" cy="2374711"/>
          </a:xfrm>
          <a:custGeom>
            <a:avLst/>
            <a:gdLst>
              <a:gd name="connsiteX0" fmla="*/ 452369 w 1366769"/>
              <a:gd name="connsiteY0" fmla="*/ 0 h 2374711"/>
              <a:gd name="connsiteX1" fmla="*/ 42936 w 1366769"/>
              <a:gd name="connsiteY1" fmla="*/ 1119117 h 2374711"/>
              <a:gd name="connsiteX2" fmla="*/ 1366769 w 1366769"/>
              <a:gd name="connsiteY2" fmla="*/ 2374711 h 2374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6769" h="2374711">
                <a:moveTo>
                  <a:pt x="452369" y="0"/>
                </a:moveTo>
                <a:cubicBezTo>
                  <a:pt x="171452" y="361666"/>
                  <a:pt x="-109464" y="723332"/>
                  <a:pt x="42936" y="1119117"/>
                </a:cubicBezTo>
                <a:cubicBezTo>
                  <a:pt x="195336" y="1514902"/>
                  <a:pt x="781052" y="1944806"/>
                  <a:pt x="1366769" y="2374711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4" name="Forma libre 63"/>
          <p:cNvSpPr/>
          <p:nvPr/>
        </p:nvSpPr>
        <p:spPr>
          <a:xfrm>
            <a:off x="340254" y="2483893"/>
            <a:ext cx="901692" cy="1228298"/>
          </a:xfrm>
          <a:custGeom>
            <a:avLst/>
            <a:gdLst>
              <a:gd name="connsiteX0" fmla="*/ 765215 w 901692"/>
              <a:gd name="connsiteY0" fmla="*/ 1228298 h 1228298"/>
              <a:gd name="connsiteX1" fmla="*/ 940 w 901692"/>
              <a:gd name="connsiteY1" fmla="*/ 668740 h 1228298"/>
              <a:gd name="connsiteX2" fmla="*/ 901692 w 901692"/>
              <a:gd name="connsiteY2" fmla="*/ 0 h 1228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692" h="1228298">
                <a:moveTo>
                  <a:pt x="765215" y="1228298"/>
                </a:moveTo>
                <a:cubicBezTo>
                  <a:pt x="371704" y="1050877"/>
                  <a:pt x="-21806" y="873456"/>
                  <a:pt x="940" y="668740"/>
                </a:cubicBezTo>
                <a:cubicBezTo>
                  <a:pt x="23686" y="464024"/>
                  <a:pt x="462689" y="232012"/>
                  <a:pt x="901692" y="0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5" name="Forma libre 64"/>
          <p:cNvSpPr/>
          <p:nvPr/>
        </p:nvSpPr>
        <p:spPr>
          <a:xfrm>
            <a:off x="1544811" y="406300"/>
            <a:ext cx="1785243" cy="1176840"/>
          </a:xfrm>
          <a:custGeom>
            <a:avLst/>
            <a:gdLst>
              <a:gd name="connsiteX0" fmla="*/ 38329 w 1785243"/>
              <a:gd name="connsiteY0" fmla="*/ 1176840 h 1176840"/>
              <a:gd name="connsiteX1" fmla="*/ 229398 w 1785243"/>
              <a:gd name="connsiteY1" fmla="*/ 85019 h 1176840"/>
              <a:gd name="connsiteX2" fmla="*/ 1785243 w 1785243"/>
              <a:gd name="connsiteY2" fmla="*/ 153258 h 117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243" h="1176840">
                <a:moveTo>
                  <a:pt x="38329" y="1176840"/>
                </a:moveTo>
                <a:cubicBezTo>
                  <a:pt x="-11713" y="716228"/>
                  <a:pt x="-61754" y="255616"/>
                  <a:pt x="229398" y="85019"/>
                </a:cubicBezTo>
                <a:cubicBezTo>
                  <a:pt x="520550" y="-85578"/>
                  <a:pt x="1152896" y="33840"/>
                  <a:pt x="1785243" y="153258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702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52" y="26151"/>
            <a:ext cx="7407975" cy="6858000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1148682" y="3298206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/>
          <p:cNvSpPr/>
          <p:nvPr/>
        </p:nvSpPr>
        <p:spPr>
          <a:xfrm>
            <a:off x="5518239" y="5265759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/>
          <p:cNvSpPr/>
          <p:nvPr/>
        </p:nvSpPr>
        <p:spPr>
          <a:xfrm>
            <a:off x="3350522" y="352563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/>
          <p:cNvSpPr/>
          <p:nvPr/>
        </p:nvSpPr>
        <p:spPr>
          <a:xfrm>
            <a:off x="1251039" y="1647959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/>
          <p:cNvSpPr/>
          <p:nvPr/>
        </p:nvSpPr>
        <p:spPr>
          <a:xfrm>
            <a:off x="5355481" y="1494419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6837525" y="2440665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lipse 11"/>
          <p:cNvSpPr/>
          <p:nvPr/>
        </p:nvSpPr>
        <p:spPr>
          <a:xfrm>
            <a:off x="4389778" y="3455151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6" name="Conector recto de flecha 15"/>
          <p:cNvCxnSpPr>
            <a:stCxn id="12" idx="6"/>
            <a:endCxn id="11" idx="3"/>
          </p:cNvCxnSpPr>
          <p:nvPr/>
        </p:nvCxnSpPr>
        <p:spPr>
          <a:xfrm flipV="1">
            <a:off x="5015303" y="3306583"/>
            <a:ext cx="1913828" cy="655811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 flipH="1" flipV="1">
            <a:off x="5972217" y="2003907"/>
            <a:ext cx="1035085" cy="478450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orma libre 61"/>
          <p:cNvSpPr/>
          <p:nvPr/>
        </p:nvSpPr>
        <p:spPr>
          <a:xfrm>
            <a:off x="3041458" y="1364776"/>
            <a:ext cx="1366769" cy="2374711"/>
          </a:xfrm>
          <a:custGeom>
            <a:avLst/>
            <a:gdLst>
              <a:gd name="connsiteX0" fmla="*/ 452369 w 1366769"/>
              <a:gd name="connsiteY0" fmla="*/ 0 h 2374711"/>
              <a:gd name="connsiteX1" fmla="*/ 42936 w 1366769"/>
              <a:gd name="connsiteY1" fmla="*/ 1119117 h 2374711"/>
              <a:gd name="connsiteX2" fmla="*/ 1366769 w 1366769"/>
              <a:gd name="connsiteY2" fmla="*/ 2374711 h 2374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6769" h="2374711">
                <a:moveTo>
                  <a:pt x="452369" y="0"/>
                </a:moveTo>
                <a:cubicBezTo>
                  <a:pt x="171452" y="361666"/>
                  <a:pt x="-109464" y="723332"/>
                  <a:pt x="42936" y="1119117"/>
                </a:cubicBezTo>
                <a:cubicBezTo>
                  <a:pt x="195336" y="1514902"/>
                  <a:pt x="781052" y="1944806"/>
                  <a:pt x="1366769" y="2374711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4" name="Forma libre 63"/>
          <p:cNvSpPr/>
          <p:nvPr/>
        </p:nvSpPr>
        <p:spPr>
          <a:xfrm>
            <a:off x="340254" y="2483893"/>
            <a:ext cx="901692" cy="1228298"/>
          </a:xfrm>
          <a:custGeom>
            <a:avLst/>
            <a:gdLst>
              <a:gd name="connsiteX0" fmla="*/ 765215 w 901692"/>
              <a:gd name="connsiteY0" fmla="*/ 1228298 h 1228298"/>
              <a:gd name="connsiteX1" fmla="*/ 940 w 901692"/>
              <a:gd name="connsiteY1" fmla="*/ 668740 h 1228298"/>
              <a:gd name="connsiteX2" fmla="*/ 901692 w 901692"/>
              <a:gd name="connsiteY2" fmla="*/ 0 h 1228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692" h="1228298">
                <a:moveTo>
                  <a:pt x="765215" y="1228298"/>
                </a:moveTo>
                <a:cubicBezTo>
                  <a:pt x="371704" y="1050877"/>
                  <a:pt x="-21806" y="873456"/>
                  <a:pt x="940" y="668740"/>
                </a:cubicBezTo>
                <a:cubicBezTo>
                  <a:pt x="23686" y="464024"/>
                  <a:pt x="462689" y="232012"/>
                  <a:pt x="901692" y="0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5" name="Forma libre 64"/>
          <p:cNvSpPr/>
          <p:nvPr/>
        </p:nvSpPr>
        <p:spPr>
          <a:xfrm>
            <a:off x="1544811" y="406300"/>
            <a:ext cx="1785243" cy="1176840"/>
          </a:xfrm>
          <a:custGeom>
            <a:avLst/>
            <a:gdLst>
              <a:gd name="connsiteX0" fmla="*/ 38329 w 1785243"/>
              <a:gd name="connsiteY0" fmla="*/ 1176840 h 1176840"/>
              <a:gd name="connsiteX1" fmla="*/ 229398 w 1785243"/>
              <a:gd name="connsiteY1" fmla="*/ 85019 h 1176840"/>
              <a:gd name="connsiteX2" fmla="*/ 1785243 w 1785243"/>
              <a:gd name="connsiteY2" fmla="*/ 153258 h 117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243" h="1176840">
                <a:moveTo>
                  <a:pt x="38329" y="1176840"/>
                </a:moveTo>
                <a:cubicBezTo>
                  <a:pt x="-11713" y="716228"/>
                  <a:pt x="-61754" y="255616"/>
                  <a:pt x="229398" y="85019"/>
                </a:cubicBezTo>
                <a:cubicBezTo>
                  <a:pt x="520550" y="-85578"/>
                  <a:pt x="1152896" y="33840"/>
                  <a:pt x="1785243" y="153258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112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52" y="26151"/>
            <a:ext cx="7407975" cy="6858000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1148682" y="3298206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/>
          <p:cNvSpPr/>
          <p:nvPr/>
        </p:nvSpPr>
        <p:spPr>
          <a:xfrm>
            <a:off x="5518239" y="5265759"/>
            <a:ext cx="625525" cy="1014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/>
          <p:cNvSpPr/>
          <p:nvPr/>
        </p:nvSpPr>
        <p:spPr>
          <a:xfrm>
            <a:off x="3350522" y="352563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/>
          <p:cNvSpPr/>
          <p:nvPr/>
        </p:nvSpPr>
        <p:spPr>
          <a:xfrm>
            <a:off x="1251039" y="1647959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/>
          <p:cNvSpPr/>
          <p:nvPr/>
        </p:nvSpPr>
        <p:spPr>
          <a:xfrm>
            <a:off x="5355481" y="1494419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6837525" y="2440665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lipse 11"/>
          <p:cNvSpPr/>
          <p:nvPr/>
        </p:nvSpPr>
        <p:spPr>
          <a:xfrm>
            <a:off x="4389778" y="3455151"/>
            <a:ext cx="625525" cy="101448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6" name="Conector recto de flecha 15"/>
          <p:cNvCxnSpPr>
            <a:stCxn id="12" idx="6"/>
            <a:endCxn id="11" idx="3"/>
          </p:cNvCxnSpPr>
          <p:nvPr/>
        </p:nvCxnSpPr>
        <p:spPr>
          <a:xfrm flipV="1">
            <a:off x="5015303" y="3306583"/>
            <a:ext cx="1913828" cy="655811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 flipH="1" flipV="1">
            <a:off x="5972217" y="2003907"/>
            <a:ext cx="1035085" cy="478450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orma libre 60"/>
          <p:cNvSpPr/>
          <p:nvPr/>
        </p:nvSpPr>
        <p:spPr>
          <a:xfrm>
            <a:off x="5868537" y="1541872"/>
            <a:ext cx="2946266" cy="4053710"/>
          </a:xfrm>
          <a:custGeom>
            <a:avLst/>
            <a:gdLst>
              <a:gd name="connsiteX0" fmla="*/ 0 w 2946266"/>
              <a:gd name="connsiteY0" fmla="*/ 325 h 4053710"/>
              <a:gd name="connsiteX1" fmla="*/ 2661314 w 2946266"/>
              <a:gd name="connsiteY1" fmla="*/ 437054 h 4053710"/>
              <a:gd name="connsiteX2" fmla="*/ 2606723 w 2946266"/>
              <a:gd name="connsiteY2" fmla="*/ 2647991 h 4053710"/>
              <a:gd name="connsiteX3" fmla="*/ 313899 w 2946266"/>
              <a:gd name="connsiteY3" fmla="*/ 4053710 h 405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266" h="4053710">
                <a:moveTo>
                  <a:pt x="0" y="325"/>
                </a:moveTo>
                <a:cubicBezTo>
                  <a:pt x="1113430" y="-1950"/>
                  <a:pt x="2226860" y="-4224"/>
                  <a:pt x="2661314" y="437054"/>
                </a:cubicBezTo>
                <a:cubicBezTo>
                  <a:pt x="3095768" y="878332"/>
                  <a:pt x="2997959" y="2045215"/>
                  <a:pt x="2606723" y="2647991"/>
                </a:cubicBezTo>
                <a:cubicBezTo>
                  <a:pt x="2215487" y="3250767"/>
                  <a:pt x="1264693" y="3652238"/>
                  <a:pt x="313899" y="4053710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2" name="Forma libre 61"/>
          <p:cNvSpPr/>
          <p:nvPr/>
        </p:nvSpPr>
        <p:spPr>
          <a:xfrm>
            <a:off x="3041458" y="1364776"/>
            <a:ext cx="1366769" cy="2374711"/>
          </a:xfrm>
          <a:custGeom>
            <a:avLst/>
            <a:gdLst>
              <a:gd name="connsiteX0" fmla="*/ 452369 w 1366769"/>
              <a:gd name="connsiteY0" fmla="*/ 0 h 2374711"/>
              <a:gd name="connsiteX1" fmla="*/ 42936 w 1366769"/>
              <a:gd name="connsiteY1" fmla="*/ 1119117 h 2374711"/>
              <a:gd name="connsiteX2" fmla="*/ 1366769 w 1366769"/>
              <a:gd name="connsiteY2" fmla="*/ 2374711 h 2374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6769" h="2374711">
                <a:moveTo>
                  <a:pt x="452369" y="0"/>
                </a:moveTo>
                <a:cubicBezTo>
                  <a:pt x="171452" y="361666"/>
                  <a:pt x="-109464" y="723332"/>
                  <a:pt x="42936" y="1119117"/>
                </a:cubicBezTo>
                <a:cubicBezTo>
                  <a:pt x="195336" y="1514902"/>
                  <a:pt x="781052" y="1944806"/>
                  <a:pt x="1366769" y="2374711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4" name="Forma libre 63"/>
          <p:cNvSpPr/>
          <p:nvPr/>
        </p:nvSpPr>
        <p:spPr>
          <a:xfrm>
            <a:off x="340254" y="2483893"/>
            <a:ext cx="901692" cy="1228298"/>
          </a:xfrm>
          <a:custGeom>
            <a:avLst/>
            <a:gdLst>
              <a:gd name="connsiteX0" fmla="*/ 765215 w 901692"/>
              <a:gd name="connsiteY0" fmla="*/ 1228298 h 1228298"/>
              <a:gd name="connsiteX1" fmla="*/ 940 w 901692"/>
              <a:gd name="connsiteY1" fmla="*/ 668740 h 1228298"/>
              <a:gd name="connsiteX2" fmla="*/ 901692 w 901692"/>
              <a:gd name="connsiteY2" fmla="*/ 0 h 1228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692" h="1228298">
                <a:moveTo>
                  <a:pt x="765215" y="1228298"/>
                </a:moveTo>
                <a:cubicBezTo>
                  <a:pt x="371704" y="1050877"/>
                  <a:pt x="-21806" y="873456"/>
                  <a:pt x="940" y="668740"/>
                </a:cubicBezTo>
                <a:cubicBezTo>
                  <a:pt x="23686" y="464024"/>
                  <a:pt x="462689" y="232012"/>
                  <a:pt x="901692" y="0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5" name="Forma libre 64"/>
          <p:cNvSpPr/>
          <p:nvPr/>
        </p:nvSpPr>
        <p:spPr>
          <a:xfrm>
            <a:off x="1544811" y="406300"/>
            <a:ext cx="1785243" cy="1176840"/>
          </a:xfrm>
          <a:custGeom>
            <a:avLst/>
            <a:gdLst>
              <a:gd name="connsiteX0" fmla="*/ 38329 w 1785243"/>
              <a:gd name="connsiteY0" fmla="*/ 1176840 h 1176840"/>
              <a:gd name="connsiteX1" fmla="*/ 229398 w 1785243"/>
              <a:gd name="connsiteY1" fmla="*/ 85019 h 1176840"/>
              <a:gd name="connsiteX2" fmla="*/ 1785243 w 1785243"/>
              <a:gd name="connsiteY2" fmla="*/ 153258 h 117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243" h="1176840">
                <a:moveTo>
                  <a:pt x="38329" y="1176840"/>
                </a:moveTo>
                <a:cubicBezTo>
                  <a:pt x="-11713" y="716228"/>
                  <a:pt x="-61754" y="255616"/>
                  <a:pt x="229398" y="85019"/>
                </a:cubicBezTo>
                <a:cubicBezTo>
                  <a:pt x="520550" y="-85578"/>
                  <a:pt x="1152896" y="33840"/>
                  <a:pt x="1785243" y="153258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831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-210" r="-210"/>
          <a:stretch/>
        </p:blipFill>
        <p:spPr>
          <a:xfrm>
            <a:off x="-69427" y="1337511"/>
            <a:ext cx="1815151" cy="256256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5502" t="5807" r="5502" b="5807"/>
          <a:stretch/>
        </p:blipFill>
        <p:spPr>
          <a:xfrm>
            <a:off x="7522204" y="1528583"/>
            <a:ext cx="1609378" cy="226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4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-210" r="-210"/>
          <a:stretch/>
        </p:blipFill>
        <p:spPr>
          <a:xfrm>
            <a:off x="-69427" y="1337511"/>
            <a:ext cx="1815151" cy="256256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5502" t="5807" r="5502" b="5807"/>
          <a:stretch/>
        </p:blipFill>
        <p:spPr>
          <a:xfrm>
            <a:off x="7522204" y="1528583"/>
            <a:ext cx="1609378" cy="2266729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122831" y="4427391"/>
            <a:ext cx="8789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El conoce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ella</a:t>
            </a:r>
            <a:endParaRPr lang="es-AR" sz="24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71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-210" r="-210"/>
          <a:stretch/>
        </p:blipFill>
        <p:spPr>
          <a:xfrm>
            <a:off x="-69427" y="1337511"/>
            <a:ext cx="1815151" cy="256256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5502" t="5807" r="5502" b="5807"/>
          <a:stretch/>
        </p:blipFill>
        <p:spPr>
          <a:xfrm>
            <a:off x="7522204" y="1528583"/>
            <a:ext cx="1609378" cy="226672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/>
          <a:srcRect l="-26191" t="-25586" r="-26191" b="-25586"/>
          <a:stretch/>
        </p:blipFill>
        <p:spPr>
          <a:xfrm>
            <a:off x="6089426" y="1839358"/>
            <a:ext cx="1371429" cy="190476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5"/>
          <a:srcRect l="-18708" t="-15436" r="-18708" b="-15436"/>
          <a:stretch/>
        </p:blipFill>
        <p:spPr>
          <a:xfrm>
            <a:off x="2829066" y="1967250"/>
            <a:ext cx="1236736" cy="164898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6"/>
          <a:srcRect l="-24603" t="-19916" r="-24603" b="-19916"/>
          <a:stretch/>
        </p:blipFill>
        <p:spPr>
          <a:xfrm>
            <a:off x="4944931" y="1910787"/>
            <a:ext cx="1342857" cy="176190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7"/>
          <a:srcRect l="-4814" t="-5932" r="-4814" b="-5932"/>
          <a:stretch/>
        </p:blipFill>
        <p:spPr>
          <a:xfrm>
            <a:off x="4072336" y="2086996"/>
            <a:ext cx="986648" cy="140949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8"/>
          <a:srcRect l="-2314" t="-3115" r="-2314" b="-3115"/>
          <a:stretch/>
        </p:blipFill>
        <p:spPr>
          <a:xfrm>
            <a:off x="1799561" y="2086996"/>
            <a:ext cx="941651" cy="1338491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962425" y="3441859"/>
            <a:ext cx="54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    5 intermediarios</a:t>
            </a:r>
            <a:endParaRPr lang="es-AR" sz="24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122831" y="4427391"/>
            <a:ext cx="8789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El conoce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ella</a:t>
            </a:r>
            <a:endParaRPr lang="es-AR" sz="24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75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-210" r="-210"/>
          <a:stretch/>
        </p:blipFill>
        <p:spPr>
          <a:xfrm>
            <a:off x="-69427" y="1337511"/>
            <a:ext cx="1815151" cy="256256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5502" t="5807" r="5502" b="5807"/>
          <a:stretch/>
        </p:blipFill>
        <p:spPr>
          <a:xfrm>
            <a:off x="7522204" y="1528583"/>
            <a:ext cx="1609378" cy="226672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/>
          <a:srcRect l="-26191" t="-25586" r="-26191" b="-25586"/>
          <a:stretch/>
        </p:blipFill>
        <p:spPr>
          <a:xfrm>
            <a:off x="6089426" y="1839358"/>
            <a:ext cx="1371429" cy="190476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5"/>
          <a:srcRect l="-18708" t="-15436" r="-18708" b="-15436"/>
          <a:stretch/>
        </p:blipFill>
        <p:spPr>
          <a:xfrm>
            <a:off x="2829066" y="1967250"/>
            <a:ext cx="1236736" cy="164898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6"/>
          <a:srcRect l="-24603" t="-19916" r="-24603" b="-19916"/>
          <a:stretch/>
        </p:blipFill>
        <p:spPr>
          <a:xfrm>
            <a:off x="4944931" y="1910787"/>
            <a:ext cx="1342857" cy="176190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7"/>
          <a:srcRect l="-4814" t="-5932" r="-4814" b="-5932"/>
          <a:stretch/>
        </p:blipFill>
        <p:spPr>
          <a:xfrm>
            <a:off x="4072336" y="2086996"/>
            <a:ext cx="986648" cy="140949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8"/>
          <a:srcRect l="-2314" t="-3115" r="-2314" b="-3115"/>
          <a:stretch/>
        </p:blipFill>
        <p:spPr>
          <a:xfrm>
            <a:off x="1799561" y="2086996"/>
            <a:ext cx="941651" cy="1338491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962425" y="3441859"/>
            <a:ext cx="54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    5 intermediarios</a:t>
            </a:r>
            <a:endParaRPr lang="es-AR" sz="24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122831" y="4427391"/>
            <a:ext cx="8789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El conoce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ella</a:t>
            </a:r>
            <a:endParaRPr lang="es-AR" sz="24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6" name="Forma libre 15"/>
          <p:cNvSpPr/>
          <p:nvPr/>
        </p:nvSpPr>
        <p:spPr>
          <a:xfrm>
            <a:off x="1610436" y="1465152"/>
            <a:ext cx="641445" cy="650251"/>
          </a:xfrm>
          <a:custGeom>
            <a:avLst/>
            <a:gdLst>
              <a:gd name="connsiteX0" fmla="*/ 0 w 641445"/>
              <a:gd name="connsiteY0" fmla="*/ 336352 h 650251"/>
              <a:gd name="connsiteX1" fmla="*/ 477671 w 641445"/>
              <a:gd name="connsiteY1" fmla="*/ 8806 h 650251"/>
              <a:gd name="connsiteX2" fmla="*/ 641445 w 641445"/>
              <a:gd name="connsiteY2" fmla="*/ 650251 h 65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650251">
                <a:moveTo>
                  <a:pt x="0" y="336352"/>
                </a:moveTo>
                <a:cubicBezTo>
                  <a:pt x="185382" y="146421"/>
                  <a:pt x="370764" y="-43510"/>
                  <a:pt x="477671" y="8806"/>
                </a:cubicBezTo>
                <a:cubicBezTo>
                  <a:pt x="584578" y="61122"/>
                  <a:pt x="613011" y="355686"/>
                  <a:pt x="641445" y="650251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Forma libre 16"/>
          <p:cNvSpPr/>
          <p:nvPr/>
        </p:nvSpPr>
        <p:spPr>
          <a:xfrm>
            <a:off x="2402006" y="1514786"/>
            <a:ext cx="955343" cy="627913"/>
          </a:xfrm>
          <a:custGeom>
            <a:avLst/>
            <a:gdLst>
              <a:gd name="connsiteX0" fmla="*/ 0 w 955343"/>
              <a:gd name="connsiteY0" fmla="*/ 586969 h 627913"/>
              <a:gd name="connsiteX1" fmla="*/ 450376 w 955343"/>
              <a:gd name="connsiteY1" fmla="*/ 115 h 627913"/>
              <a:gd name="connsiteX2" fmla="*/ 955343 w 955343"/>
              <a:gd name="connsiteY2" fmla="*/ 627913 h 62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43" h="627913">
                <a:moveTo>
                  <a:pt x="0" y="586969"/>
                </a:moveTo>
                <a:cubicBezTo>
                  <a:pt x="145576" y="290130"/>
                  <a:pt x="291152" y="-6709"/>
                  <a:pt x="450376" y="115"/>
                </a:cubicBezTo>
                <a:cubicBezTo>
                  <a:pt x="609600" y="6939"/>
                  <a:pt x="782471" y="317426"/>
                  <a:pt x="955343" y="627913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Forma libre 17"/>
          <p:cNvSpPr/>
          <p:nvPr/>
        </p:nvSpPr>
        <p:spPr>
          <a:xfrm>
            <a:off x="4671472" y="1526683"/>
            <a:ext cx="955343" cy="627913"/>
          </a:xfrm>
          <a:custGeom>
            <a:avLst/>
            <a:gdLst>
              <a:gd name="connsiteX0" fmla="*/ 0 w 955343"/>
              <a:gd name="connsiteY0" fmla="*/ 586969 h 627913"/>
              <a:gd name="connsiteX1" fmla="*/ 450376 w 955343"/>
              <a:gd name="connsiteY1" fmla="*/ 115 h 627913"/>
              <a:gd name="connsiteX2" fmla="*/ 955343 w 955343"/>
              <a:gd name="connsiteY2" fmla="*/ 627913 h 62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43" h="627913">
                <a:moveTo>
                  <a:pt x="0" y="586969"/>
                </a:moveTo>
                <a:cubicBezTo>
                  <a:pt x="145576" y="290130"/>
                  <a:pt x="291152" y="-6709"/>
                  <a:pt x="450376" y="115"/>
                </a:cubicBezTo>
                <a:cubicBezTo>
                  <a:pt x="609600" y="6939"/>
                  <a:pt x="782471" y="317426"/>
                  <a:pt x="955343" y="627913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Forma libre 18"/>
          <p:cNvSpPr/>
          <p:nvPr/>
        </p:nvSpPr>
        <p:spPr>
          <a:xfrm>
            <a:off x="3514611" y="1509382"/>
            <a:ext cx="955343" cy="627913"/>
          </a:xfrm>
          <a:custGeom>
            <a:avLst/>
            <a:gdLst>
              <a:gd name="connsiteX0" fmla="*/ 0 w 955343"/>
              <a:gd name="connsiteY0" fmla="*/ 586969 h 627913"/>
              <a:gd name="connsiteX1" fmla="*/ 450376 w 955343"/>
              <a:gd name="connsiteY1" fmla="*/ 115 h 627913"/>
              <a:gd name="connsiteX2" fmla="*/ 955343 w 955343"/>
              <a:gd name="connsiteY2" fmla="*/ 627913 h 62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43" h="627913">
                <a:moveTo>
                  <a:pt x="0" y="586969"/>
                </a:moveTo>
                <a:cubicBezTo>
                  <a:pt x="145576" y="290130"/>
                  <a:pt x="291152" y="-6709"/>
                  <a:pt x="450376" y="115"/>
                </a:cubicBezTo>
                <a:cubicBezTo>
                  <a:pt x="609600" y="6939"/>
                  <a:pt x="782471" y="317426"/>
                  <a:pt x="955343" y="627913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Forma libre 19"/>
          <p:cNvSpPr/>
          <p:nvPr/>
        </p:nvSpPr>
        <p:spPr>
          <a:xfrm>
            <a:off x="5837941" y="1525401"/>
            <a:ext cx="955343" cy="627913"/>
          </a:xfrm>
          <a:custGeom>
            <a:avLst/>
            <a:gdLst>
              <a:gd name="connsiteX0" fmla="*/ 0 w 955343"/>
              <a:gd name="connsiteY0" fmla="*/ 586969 h 627913"/>
              <a:gd name="connsiteX1" fmla="*/ 450376 w 955343"/>
              <a:gd name="connsiteY1" fmla="*/ 115 h 627913"/>
              <a:gd name="connsiteX2" fmla="*/ 955343 w 955343"/>
              <a:gd name="connsiteY2" fmla="*/ 627913 h 62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43" h="627913">
                <a:moveTo>
                  <a:pt x="0" y="586969"/>
                </a:moveTo>
                <a:cubicBezTo>
                  <a:pt x="145576" y="290130"/>
                  <a:pt x="291152" y="-6709"/>
                  <a:pt x="450376" y="115"/>
                </a:cubicBezTo>
                <a:cubicBezTo>
                  <a:pt x="609600" y="6939"/>
                  <a:pt x="782471" y="317426"/>
                  <a:pt x="955343" y="627913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Forma libre 20"/>
          <p:cNvSpPr/>
          <p:nvPr/>
        </p:nvSpPr>
        <p:spPr>
          <a:xfrm>
            <a:off x="6864824" y="1576549"/>
            <a:ext cx="600501" cy="525206"/>
          </a:xfrm>
          <a:custGeom>
            <a:avLst/>
            <a:gdLst>
              <a:gd name="connsiteX0" fmla="*/ 0 w 600501"/>
              <a:gd name="connsiteY0" fmla="*/ 525206 h 525206"/>
              <a:gd name="connsiteX1" fmla="*/ 163773 w 600501"/>
              <a:gd name="connsiteY1" fmla="*/ 6591 h 525206"/>
              <a:gd name="connsiteX2" fmla="*/ 600501 w 600501"/>
              <a:gd name="connsiteY2" fmla="*/ 279547 h 52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0501" h="525206">
                <a:moveTo>
                  <a:pt x="0" y="525206"/>
                </a:moveTo>
                <a:cubicBezTo>
                  <a:pt x="31845" y="286370"/>
                  <a:pt x="63690" y="47534"/>
                  <a:pt x="163773" y="6591"/>
                </a:cubicBezTo>
                <a:cubicBezTo>
                  <a:pt x="263857" y="-34352"/>
                  <a:pt x="432179" y="122597"/>
                  <a:pt x="600501" y="279547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/>
          <p:cNvSpPr txBox="1"/>
          <p:nvPr/>
        </p:nvSpPr>
        <p:spPr>
          <a:xfrm>
            <a:off x="1907800" y="932756"/>
            <a:ext cx="54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	</a:t>
            </a:r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6 cadenas</a:t>
            </a:r>
            <a:endParaRPr lang="es-AR" sz="2400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56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-210" r="-210"/>
          <a:stretch/>
        </p:blipFill>
        <p:spPr>
          <a:xfrm>
            <a:off x="-69427" y="1337511"/>
            <a:ext cx="1815151" cy="256256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5502" t="5807" r="5502" b="5807"/>
          <a:stretch/>
        </p:blipFill>
        <p:spPr>
          <a:xfrm>
            <a:off x="7522204" y="1528583"/>
            <a:ext cx="1609378" cy="226672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/>
          <a:srcRect l="-26191" t="-25586" r="-26191" b="-25586"/>
          <a:stretch/>
        </p:blipFill>
        <p:spPr>
          <a:xfrm>
            <a:off x="6089426" y="1839358"/>
            <a:ext cx="1371429" cy="190476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5"/>
          <a:srcRect l="-18708" t="-15436" r="-18708" b="-15436"/>
          <a:stretch/>
        </p:blipFill>
        <p:spPr>
          <a:xfrm>
            <a:off x="2829066" y="1967250"/>
            <a:ext cx="1236736" cy="164898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6"/>
          <a:srcRect l="-24603" t="-19916" r="-24603" b="-19916"/>
          <a:stretch/>
        </p:blipFill>
        <p:spPr>
          <a:xfrm>
            <a:off x="4944931" y="1910787"/>
            <a:ext cx="1342857" cy="176190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7"/>
          <a:srcRect l="-4814" t="-5932" r="-4814" b="-5932"/>
          <a:stretch/>
        </p:blipFill>
        <p:spPr>
          <a:xfrm>
            <a:off x="4072336" y="2086996"/>
            <a:ext cx="986648" cy="140949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8"/>
          <a:srcRect l="-2314" t="-3115" r="-2314" b="-3115"/>
          <a:stretch/>
        </p:blipFill>
        <p:spPr>
          <a:xfrm>
            <a:off x="1799561" y="2086996"/>
            <a:ext cx="941651" cy="1338491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962425" y="3441859"/>
            <a:ext cx="54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    5 intermediarios</a:t>
            </a:r>
            <a:endParaRPr lang="es-AR" sz="24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122831" y="4427391"/>
            <a:ext cx="8789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El conoce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alguien, </a:t>
            </a:r>
            <a:r>
              <a:rPr lang="es-A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que conoce a </a:t>
            </a:r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ella</a:t>
            </a:r>
            <a:endParaRPr lang="es-AR" sz="24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6" name="Forma libre 15"/>
          <p:cNvSpPr/>
          <p:nvPr/>
        </p:nvSpPr>
        <p:spPr>
          <a:xfrm>
            <a:off x="1610436" y="1465152"/>
            <a:ext cx="641445" cy="650251"/>
          </a:xfrm>
          <a:custGeom>
            <a:avLst/>
            <a:gdLst>
              <a:gd name="connsiteX0" fmla="*/ 0 w 641445"/>
              <a:gd name="connsiteY0" fmla="*/ 336352 h 650251"/>
              <a:gd name="connsiteX1" fmla="*/ 477671 w 641445"/>
              <a:gd name="connsiteY1" fmla="*/ 8806 h 650251"/>
              <a:gd name="connsiteX2" fmla="*/ 641445 w 641445"/>
              <a:gd name="connsiteY2" fmla="*/ 650251 h 65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650251">
                <a:moveTo>
                  <a:pt x="0" y="336352"/>
                </a:moveTo>
                <a:cubicBezTo>
                  <a:pt x="185382" y="146421"/>
                  <a:pt x="370764" y="-43510"/>
                  <a:pt x="477671" y="8806"/>
                </a:cubicBezTo>
                <a:cubicBezTo>
                  <a:pt x="584578" y="61122"/>
                  <a:pt x="613011" y="355686"/>
                  <a:pt x="641445" y="650251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Forma libre 16"/>
          <p:cNvSpPr/>
          <p:nvPr/>
        </p:nvSpPr>
        <p:spPr>
          <a:xfrm>
            <a:off x="2402006" y="1514786"/>
            <a:ext cx="955343" cy="627913"/>
          </a:xfrm>
          <a:custGeom>
            <a:avLst/>
            <a:gdLst>
              <a:gd name="connsiteX0" fmla="*/ 0 w 955343"/>
              <a:gd name="connsiteY0" fmla="*/ 586969 h 627913"/>
              <a:gd name="connsiteX1" fmla="*/ 450376 w 955343"/>
              <a:gd name="connsiteY1" fmla="*/ 115 h 627913"/>
              <a:gd name="connsiteX2" fmla="*/ 955343 w 955343"/>
              <a:gd name="connsiteY2" fmla="*/ 627913 h 62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43" h="627913">
                <a:moveTo>
                  <a:pt x="0" y="586969"/>
                </a:moveTo>
                <a:cubicBezTo>
                  <a:pt x="145576" y="290130"/>
                  <a:pt x="291152" y="-6709"/>
                  <a:pt x="450376" y="115"/>
                </a:cubicBezTo>
                <a:cubicBezTo>
                  <a:pt x="609600" y="6939"/>
                  <a:pt x="782471" y="317426"/>
                  <a:pt x="955343" y="627913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Forma libre 17"/>
          <p:cNvSpPr/>
          <p:nvPr/>
        </p:nvSpPr>
        <p:spPr>
          <a:xfrm>
            <a:off x="4671472" y="1526683"/>
            <a:ext cx="955343" cy="627913"/>
          </a:xfrm>
          <a:custGeom>
            <a:avLst/>
            <a:gdLst>
              <a:gd name="connsiteX0" fmla="*/ 0 w 955343"/>
              <a:gd name="connsiteY0" fmla="*/ 586969 h 627913"/>
              <a:gd name="connsiteX1" fmla="*/ 450376 w 955343"/>
              <a:gd name="connsiteY1" fmla="*/ 115 h 627913"/>
              <a:gd name="connsiteX2" fmla="*/ 955343 w 955343"/>
              <a:gd name="connsiteY2" fmla="*/ 627913 h 62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43" h="627913">
                <a:moveTo>
                  <a:pt x="0" y="586969"/>
                </a:moveTo>
                <a:cubicBezTo>
                  <a:pt x="145576" y="290130"/>
                  <a:pt x="291152" y="-6709"/>
                  <a:pt x="450376" y="115"/>
                </a:cubicBezTo>
                <a:cubicBezTo>
                  <a:pt x="609600" y="6939"/>
                  <a:pt x="782471" y="317426"/>
                  <a:pt x="955343" y="627913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Forma libre 18"/>
          <p:cNvSpPr/>
          <p:nvPr/>
        </p:nvSpPr>
        <p:spPr>
          <a:xfrm>
            <a:off x="3514611" y="1509382"/>
            <a:ext cx="955343" cy="627913"/>
          </a:xfrm>
          <a:custGeom>
            <a:avLst/>
            <a:gdLst>
              <a:gd name="connsiteX0" fmla="*/ 0 w 955343"/>
              <a:gd name="connsiteY0" fmla="*/ 586969 h 627913"/>
              <a:gd name="connsiteX1" fmla="*/ 450376 w 955343"/>
              <a:gd name="connsiteY1" fmla="*/ 115 h 627913"/>
              <a:gd name="connsiteX2" fmla="*/ 955343 w 955343"/>
              <a:gd name="connsiteY2" fmla="*/ 627913 h 62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43" h="627913">
                <a:moveTo>
                  <a:pt x="0" y="586969"/>
                </a:moveTo>
                <a:cubicBezTo>
                  <a:pt x="145576" y="290130"/>
                  <a:pt x="291152" y="-6709"/>
                  <a:pt x="450376" y="115"/>
                </a:cubicBezTo>
                <a:cubicBezTo>
                  <a:pt x="609600" y="6939"/>
                  <a:pt x="782471" y="317426"/>
                  <a:pt x="955343" y="627913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Forma libre 19"/>
          <p:cNvSpPr/>
          <p:nvPr/>
        </p:nvSpPr>
        <p:spPr>
          <a:xfrm>
            <a:off x="5837941" y="1525401"/>
            <a:ext cx="955343" cy="627913"/>
          </a:xfrm>
          <a:custGeom>
            <a:avLst/>
            <a:gdLst>
              <a:gd name="connsiteX0" fmla="*/ 0 w 955343"/>
              <a:gd name="connsiteY0" fmla="*/ 586969 h 627913"/>
              <a:gd name="connsiteX1" fmla="*/ 450376 w 955343"/>
              <a:gd name="connsiteY1" fmla="*/ 115 h 627913"/>
              <a:gd name="connsiteX2" fmla="*/ 955343 w 955343"/>
              <a:gd name="connsiteY2" fmla="*/ 627913 h 62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343" h="627913">
                <a:moveTo>
                  <a:pt x="0" y="586969"/>
                </a:moveTo>
                <a:cubicBezTo>
                  <a:pt x="145576" y="290130"/>
                  <a:pt x="291152" y="-6709"/>
                  <a:pt x="450376" y="115"/>
                </a:cubicBezTo>
                <a:cubicBezTo>
                  <a:pt x="609600" y="6939"/>
                  <a:pt x="782471" y="317426"/>
                  <a:pt x="955343" y="627913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Forma libre 20"/>
          <p:cNvSpPr/>
          <p:nvPr/>
        </p:nvSpPr>
        <p:spPr>
          <a:xfrm>
            <a:off x="6864824" y="1576549"/>
            <a:ext cx="600501" cy="525206"/>
          </a:xfrm>
          <a:custGeom>
            <a:avLst/>
            <a:gdLst>
              <a:gd name="connsiteX0" fmla="*/ 0 w 600501"/>
              <a:gd name="connsiteY0" fmla="*/ 525206 h 525206"/>
              <a:gd name="connsiteX1" fmla="*/ 163773 w 600501"/>
              <a:gd name="connsiteY1" fmla="*/ 6591 h 525206"/>
              <a:gd name="connsiteX2" fmla="*/ 600501 w 600501"/>
              <a:gd name="connsiteY2" fmla="*/ 279547 h 52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0501" h="525206">
                <a:moveTo>
                  <a:pt x="0" y="525206"/>
                </a:moveTo>
                <a:cubicBezTo>
                  <a:pt x="31845" y="286370"/>
                  <a:pt x="63690" y="47534"/>
                  <a:pt x="163773" y="6591"/>
                </a:cubicBezTo>
                <a:cubicBezTo>
                  <a:pt x="263857" y="-34352"/>
                  <a:pt x="432179" y="122597"/>
                  <a:pt x="600501" y="279547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/>
          <p:cNvSpPr txBox="1"/>
          <p:nvPr/>
        </p:nvSpPr>
        <p:spPr>
          <a:xfrm>
            <a:off x="1907800" y="932756"/>
            <a:ext cx="54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	</a:t>
            </a:r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6 cadenas</a:t>
            </a:r>
            <a:endParaRPr lang="es-AR" sz="2400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642173" y="130463"/>
            <a:ext cx="6512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Seis grados de separación</a:t>
            </a:r>
            <a:endParaRPr lang="es-AR" sz="3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85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Número de Bacon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400349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Número de Bacon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699" y="1466125"/>
            <a:ext cx="3619926" cy="29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5908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Número de Bacon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CuadroTexto 1"/>
          <p:cNvSpPr txBox="1"/>
          <p:nvPr/>
        </p:nvSpPr>
        <p:spPr>
          <a:xfrm>
            <a:off x="805219" y="4733366"/>
            <a:ext cx="69937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Dos actores están conectados si alguna vez trabajaron en la misma película.</a:t>
            </a:r>
            <a:endParaRPr lang="es-AR" sz="2800" dirty="0">
              <a:latin typeface="Comic Sans MS" panose="030F0702030302020204" pitchFamily="66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699" y="1466125"/>
            <a:ext cx="3619926" cy="29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7396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505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4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505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4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Número de </a:t>
            </a:r>
            <a:r>
              <a:rPr lang="es-AR" sz="4000" dirty="0" err="1" smtClean="0">
                <a:solidFill>
                  <a:srgbClr val="FF6600"/>
                </a:solidFill>
                <a:latin typeface="Comic Sans MS" panose="030F0702030302020204" pitchFamily="66" charset="0"/>
              </a:rPr>
              <a:t>Erdős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CuadroTexto 1"/>
          <p:cNvSpPr txBox="1"/>
          <p:nvPr/>
        </p:nvSpPr>
        <p:spPr>
          <a:xfrm>
            <a:off x="1228299" y="1760562"/>
            <a:ext cx="6182435" cy="1678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6" name="CuadroTexto 5"/>
          <p:cNvSpPr txBox="1"/>
          <p:nvPr/>
        </p:nvSpPr>
        <p:spPr>
          <a:xfrm>
            <a:off x="822638" y="1577322"/>
            <a:ext cx="69937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Mide la distancia de colaboración en la autoría de trabajos académicos entre una persona y el matemático Paul </a:t>
            </a:r>
            <a:r>
              <a:rPr lang="es-AR" sz="2800" dirty="0" err="1" smtClean="0">
                <a:latin typeface="Comic Sans MS" panose="030F0702030302020204" pitchFamily="66" charset="0"/>
              </a:rPr>
              <a:t>Erdős</a:t>
            </a:r>
            <a:r>
              <a:rPr lang="es-AR" sz="2800" dirty="0" smtClean="0">
                <a:latin typeface="Comic Sans MS" panose="030F0702030302020204" pitchFamily="66" charset="0"/>
              </a:rPr>
              <a:t>.</a:t>
            </a:r>
            <a:endParaRPr lang="es-AR" sz="2800" dirty="0">
              <a:latin typeface="Comic Sans MS" panose="030F0702030302020204" pitchFamily="66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197" y="3265371"/>
            <a:ext cx="2693158" cy="304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0821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Número de </a:t>
            </a:r>
            <a:r>
              <a:rPr lang="es-AR" sz="4000" dirty="0" err="1" smtClean="0">
                <a:solidFill>
                  <a:srgbClr val="FF6600"/>
                </a:solidFill>
                <a:latin typeface="Comic Sans MS" panose="030F0702030302020204" pitchFamily="66" charset="0"/>
              </a:rPr>
              <a:t>Erdős</a:t>
            </a:r>
            <a:r>
              <a:rPr lang="es-AR" sz="4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 + Bacon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CuadroTexto 1"/>
          <p:cNvSpPr txBox="1"/>
          <p:nvPr/>
        </p:nvSpPr>
        <p:spPr>
          <a:xfrm>
            <a:off x="1323834" y="1517320"/>
            <a:ext cx="6182435" cy="1678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6878401" y="1714458"/>
            <a:ext cx="255560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Albert Einstein</a:t>
            </a: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E2+B4</a:t>
            </a:r>
            <a:endParaRPr lang="es-AR" sz="2800" dirty="0"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Natalie </a:t>
            </a:r>
            <a:r>
              <a:rPr lang="es-AR" sz="2800" dirty="0" err="1" smtClean="0">
                <a:latin typeface="Comic Sans MS" panose="030F0702030302020204" pitchFamily="66" charset="0"/>
              </a:rPr>
              <a:t>Portman</a:t>
            </a:r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E5+B2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244492" y="1935644"/>
            <a:ext cx="22518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Lisa </a:t>
            </a:r>
            <a:r>
              <a:rPr lang="es-AR" sz="2800" dirty="0" err="1" smtClean="0">
                <a:latin typeface="Comic Sans MS" panose="030F0702030302020204" pitchFamily="66" charset="0"/>
              </a:rPr>
              <a:t>Kudrow</a:t>
            </a:r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E10+B2</a:t>
            </a: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Brian </a:t>
            </a:r>
            <a:r>
              <a:rPr lang="es-AR" sz="2800" dirty="0" err="1" smtClean="0">
                <a:latin typeface="Comic Sans MS" panose="030F0702030302020204" pitchFamily="66" charset="0"/>
              </a:rPr>
              <a:t>May</a:t>
            </a:r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E5+B3</a:t>
            </a:r>
            <a:endParaRPr lang="es-AR" sz="2800" dirty="0">
              <a:latin typeface="Comic Sans MS" panose="030F0702030302020204" pitchFamily="66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" t="-197" r="-197" b="-197"/>
          <a:stretch/>
        </p:blipFill>
        <p:spPr>
          <a:xfrm>
            <a:off x="229199" y="1870944"/>
            <a:ext cx="1879377" cy="187937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2" t="-262" r="-262" b="-262"/>
          <a:stretch/>
        </p:blipFill>
        <p:spPr>
          <a:xfrm>
            <a:off x="4860690" y="1868525"/>
            <a:ext cx="1881795" cy="188179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" t="680" r="680" b="680"/>
          <a:stretch/>
        </p:blipFill>
        <p:spPr>
          <a:xfrm>
            <a:off x="262021" y="4272816"/>
            <a:ext cx="1846555" cy="1846555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" t="91" r="91" b="91"/>
          <a:stretch/>
        </p:blipFill>
        <p:spPr>
          <a:xfrm>
            <a:off x="4873883" y="4261776"/>
            <a:ext cx="1868602" cy="186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6749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61560" y="117413"/>
            <a:ext cx="823673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 dirty="0" smtClean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Podemos decir algo desde </a:t>
            </a:r>
          </a:p>
          <a:p>
            <a:pPr algn="ctr"/>
            <a:r>
              <a:rPr lang="es-AR" sz="4000" dirty="0" smtClean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la matemática al problema?</a:t>
            </a:r>
          </a:p>
          <a:p>
            <a:endParaRPr lang="es-AR" sz="4000" dirty="0">
              <a:solidFill>
                <a:srgbClr val="FFC000"/>
              </a:solidFill>
              <a:latin typeface="Comic Sans MS" panose="030F0702030302020204" pitchFamily="66" charset="0"/>
            </a:endParaRPr>
          </a:p>
          <a:p>
            <a:endParaRPr lang="es-AR" sz="4000" dirty="0" smtClean="0">
              <a:latin typeface="Comic Sans MS" panose="030F0702030302020204" pitchFamily="66" charset="0"/>
            </a:endParaRPr>
          </a:p>
          <a:p>
            <a:endParaRPr lang="es-AR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13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361560" y="117413"/>
                <a:ext cx="8236739" cy="6863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4000" dirty="0" smtClean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Podemos decir algo desde </a:t>
                </a:r>
              </a:p>
              <a:p>
                <a:pPr algn="ctr"/>
                <a:r>
                  <a:rPr lang="es-AR" sz="4000" dirty="0" smtClean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la matemática al problema?</a:t>
                </a:r>
              </a:p>
              <a:p>
                <a:endParaRPr lang="es-AR" sz="4000" dirty="0">
                  <a:solidFill>
                    <a:srgbClr val="FFC000"/>
                  </a:solidFill>
                  <a:latin typeface="Comic Sans MS" panose="030F0702030302020204" pitchFamily="66" charset="0"/>
                </a:endParaRPr>
              </a:p>
              <a:p>
                <a:endParaRPr lang="es-AR" sz="4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mic Sans MS" panose="030F0702030302020204" pitchFamily="66" charset="0"/>
                </a:endParaRPr>
              </a:p>
              <a:p>
                <a:r>
                  <a:rPr lang="es-AR" sz="4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omic Sans MS" panose="030F0702030302020204" pitchFamily="66" charset="0"/>
                  </a:rPr>
                  <a:t>El mundo tiene 7400 millones de personas</a:t>
                </a:r>
              </a:p>
              <a:p>
                <a:endParaRPr lang="es-AR" sz="4000" dirty="0" smtClean="0">
                  <a:latin typeface="Comic Sans MS" panose="030F0702030302020204" pitchFamily="66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4000" b="0" i="0" smtClean="0">
                          <a:latin typeface="Cambria Math" panose="02040503050406030204" pitchFamily="18" charset="0"/>
                        </a:rPr>
                        <m:t>7.4 </m:t>
                      </m:r>
                      <m:r>
                        <m:rPr>
                          <m:sty m:val="p"/>
                        </m:rPr>
                        <a:rPr lang="es-AR" sz="40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AR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AR" sz="4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AR" sz="4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s-AR" sz="4000" b="0" i="1" smtClean="0">
                          <a:latin typeface="Cambria Math" panose="02040503050406030204" pitchFamily="18" charset="0"/>
                        </a:rPr>
                        <m:t>=7.4</m:t>
                      </m:r>
                      <m:r>
                        <a:rPr lang="es-AR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AR" sz="40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AR" sz="4000" b="0" i="0" smtClean="0">
                          <a:latin typeface="Cambria Math" panose="02040503050406030204" pitchFamily="18" charset="0"/>
                        </a:rPr>
                        <m:t> 10 </m:t>
                      </m:r>
                      <m:r>
                        <m:rPr>
                          <m:sty m:val="p"/>
                        </m:rPr>
                        <a:rPr lang="es-AR" sz="40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AR" sz="4000" b="0" i="0" smtClean="0">
                          <a:latin typeface="Cambria Math" panose="02040503050406030204" pitchFamily="18" charset="0"/>
                        </a:rPr>
                        <m:t>….</m:t>
                      </m:r>
                      <m:r>
                        <m:rPr>
                          <m:sty m:val="p"/>
                        </m:rPr>
                        <a:rPr lang="es-AR" sz="40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AR" sz="4000" b="0" i="1" smtClean="0">
                          <a:latin typeface="Cambria Math" panose="02040503050406030204" pitchFamily="18" charset="0"/>
                        </a:rPr>
                        <m:t> 10</m:t>
                      </m:r>
                    </m:oMath>
                  </m:oMathPara>
                </a14:m>
                <a:endParaRPr lang="es-AR" sz="4000" dirty="0">
                  <a:latin typeface="Comic Sans MS" panose="030F0702030302020204" pitchFamily="66" charset="0"/>
                </a:endParaRP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						</a:t>
                </a:r>
                <a:r>
                  <a:rPr lang="es-AR" sz="2000" dirty="0" smtClean="0">
                    <a:latin typeface="Comic Sans MS" panose="030F0702030302020204" pitchFamily="66" charset="0"/>
                  </a:rPr>
                  <a:t>9 veces</a:t>
                </a:r>
                <a:endParaRPr lang="es-AR" sz="4000" dirty="0">
                  <a:latin typeface="Comic Sans MS" panose="030F0702030302020204" pitchFamily="66" charset="0"/>
                </a:endParaRPr>
              </a:p>
              <a:p>
                <a:endParaRPr lang="es-AR" sz="4000" dirty="0" smtClean="0">
                  <a:latin typeface="Comic Sans MS" panose="030F0702030302020204" pitchFamily="66" charset="0"/>
                </a:endParaRP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60" y="117413"/>
                <a:ext cx="8236739" cy="6863417"/>
              </a:xfrm>
              <a:prstGeom prst="rect">
                <a:avLst/>
              </a:prstGeom>
              <a:blipFill rotWithShape="0">
                <a:blip r:embed="rId2"/>
                <a:stretch>
                  <a:fillRect l="-2591" t="-15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errar llave 2"/>
          <p:cNvSpPr/>
          <p:nvPr/>
        </p:nvSpPr>
        <p:spPr>
          <a:xfrm rot="5400000">
            <a:off x="6127844" y="3773612"/>
            <a:ext cx="409432" cy="2565777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073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61560" y="117413"/>
            <a:ext cx="82367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Hagamos una cuenta mal!</a:t>
            </a:r>
          </a:p>
          <a:p>
            <a:endParaRPr lang="es-AR" sz="40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endParaRPr lang="es-AR" sz="4000" dirty="0" smtClean="0">
              <a:latin typeface="Comic Sans MS" panose="030F0702030302020204" pitchFamily="66" charset="0"/>
            </a:endParaRPr>
          </a:p>
          <a:p>
            <a:endParaRPr lang="es-AR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85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61560" y="117413"/>
            <a:ext cx="823673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Hagamos una cuenta mal!</a:t>
            </a:r>
          </a:p>
          <a:p>
            <a:endParaRPr lang="es-AR" sz="40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s-AR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Supongamos lo siguiente</a:t>
            </a:r>
          </a:p>
          <a:p>
            <a:endParaRPr lang="es-AR" sz="4000" dirty="0" smtClean="0">
              <a:latin typeface="Comic Sans MS" panose="030F0702030302020204" pitchFamily="66" charset="0"/>
            </a:endParaRPr>
          </a:p>
          <a:p>
            <a:endParaRPr lang="es-AR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04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61560" y="117413"/>
            <a:ext cx="823673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Hagamos una cuenta mal!</a:t>
            </a:r>
          </a:p>
          <a:p>
            <a:endParaRPr lang="es-AR" sz="40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s-AR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Supongamos lo siguiente</a:t>
            </a:r>
          </a:p>
          <a:p>
            <a:pPr marL="571500" indent="-57150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yo tengo 100 amigos</a:t>
            </a:r>
          </a:p>
          <a:p>
            <a:endParaRPr lang="es-AR" sz="4000" dirty="0">
              <a:latin typeface="Comic Sans MS" panose="030F0702030302020204" pitchFamily="66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" y="3487651"/>
            <a:ext cx="609524" cy="105714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153" y="2869857"/>
            <a:ext cx="423591" cy="73466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41" y="3810128"/>
            <a:ext cx="423591" cy="73466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41" y="5605764"/>
            <a:ext cx="423591" cy="734666"/>
          </a:xfrm>
          <a:prstGeom prst="rect">
            <a:avLst/>
          </a:prstGeom>
        </p:spPr>
      </p:pic>
      <p:cxnSp>
        <p:nvCxnSpPr>
          <p:cNvPr id="11" name="Conector recto de flecha 10"/>
          <p:cNvCxnSpPr/>
          <p:nvPr/>
        </p:nvCxnSpPr>
        <p:spPr>
          <a:xfrm>
            <a:off x="1191904" y="4050139"/>
            <a:ext cx="1001013" cy="187739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V="1">
            <a:off x="1191904" y="3429557"/>
            <a:ext cx="848290" cy="62058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>
            <a:off x="1191904" y="4050139"/>
            <a:ext cx="855257" cy="57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2341748" y="4727539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Elipse 23"/>
          <p:cNvSpPr/>
          <p:nvPr/>
        </p:nvSpPr>
        <p:spPr>
          <a:xfrm>
            <a:off x="2347238" y="5021691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lipse 24"/>
          <p:cNvSpPr/>
          <p:nvPr/>
        </p:nvSpPr>
        <p:spPr>
          <a:xfrm>
            <a:off x="2345122" y="5265893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/>
          <p:cNvSpPr/>
          <p:nvPr/>
        </p:nvSpPr>
        <p:spPr>
          <a:xfrm>
            <a:off x="2340414" y="5487235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080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02503" y="76713"/>
            <a:ext cx="82367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cada </a:t>
            </a:r>
            <a:r>
              <a:rPr lang="es-AR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uno de mis amigos tiene otros 100 amigos</a:t>
            </a:r>
          </a:p>
          <a:p>
            <a:endParaRPr lang="es-AR" sz="4000" dirty="0">
              <a:latin typeface="Comic Sans MS" panose="030F0702030302020204" pitchFamily="66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" y="3487651"/>
            <a:ext cx="609524" cy="105714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153" y="2869857"/>
            <a:ext cx="423591" cy="73466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41" y="3810128"/>
            <a:ext cx="423591" cy="73466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41" y="5605764"/>
            <a:ext cx="423591" cy="734666"/>
          </a:xfrm>
          <a:prstGeom prst="rect">
            <a:avLst/>
          </a:prstGeom>
        </p:spPr>
      </p:pic>
      <p:cxnSp>
        <p:nvCxnSpPr>
          <p:cNvPr id="11" name="Conector recto de flecha 10"/>
          <p:cNvCxnSpPr/>
          <p:nvPr/>
        </p:nvCxnSpPr>
        <p:spPr>
          <a:xfrm>
            <a:off x="1191904" y="4050139"/>
            <a:ext cx="1001013" cy="187739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V="1">
            <a:off x="1191904" y="3429557"/>
            <a:ext cx="848290" cy="62058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>
            <a:off x="1191904" y="4050139"/>
            <a:ext cx="855257" cy="57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2341748" y="4727539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Elipse 23"/>
          <p:cNvSpPr/>
          <p:nvPr/>
        </p:nvSpPr>
        <p:spPr>
          <a:xfrm>
            <a:off x="2347238" y="5021691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lipse 24"/>
          <p:cNvSpPr/>
          <p:nvPr/>
        </p:nvSpPr>
        <p:spPr>
          <a:xfrm>
            <a:off x="2345122" y="5265893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/>
          <p:cNvSpPr/>
          <p:nvPr/>
        </p:nvSpPr>
        <p:spPr>
          <a:xfrm>
            <a:off x="2340414" y="5487235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08" y="2597398"/>
            <a:ext cx="307314" cy="532998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08" y="3131925"/>
            <a:ext cx="307314" cy="532998"/>
          </a:xfrm>
          <a:prstGeom prst="rect">
            <a:avLst/>
          </a:prstGeom>
        </p:spPr>
      </p:pic>
      <p:pic>
        <p:nvPicPr>
          <p:cNvPr id="33" name="Imagen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061" y="4003226"/>
            <a:ext cx="307314" cy="532998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14" y="4954237"/>
            <a:ext cx="307314" cy="532998"/>
          </a:xfrm>
          <a:prstGeom prst="rect">
            <a:avLst/>
          </a:prstGeom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14" y="5447167"/>
            <a:ext cx="307314" cy="532998"/>
          </a:xfrm>
          <a:prstGeom prst="rect">
            <a:avLst/>
          </a:prstGeom>
        </p:spPr>
      </p:pic>
      <p:pic>
        <p:nvPicPr>
          <p:cNvPr id="36" name="Imagen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767" y="6325002"/>
            <a:ext cx="307314" cy="532998"/>
          </a:xfrm>
          <a:prstGeom prst="rect">
            <a:avLst/>
          </a:prstGeom>
        </p:spPr>
      </p:pic>
      <p:sp>
        <p:nvSpPr>
          <p:cNvPr id="37" name="Elipse 36"/>
          <p:cNvSpPr/>
          <p:nvPr/>
        </p:nvSpPr>
        <p:spPr>
          <a:xfrm>
            <a:off x="3601971" y="3688183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Elipse 37"/>
          <p:cNvSpPr/>
          <p:nvPr/>
        </p:nvSpPr>
        <p:spPr>
          <a:xfrm>
            <a:off x="3588324" y="3897189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Elipse 38"/>
          <p:cNvSpPr/>
          <p:nvPr/>
        </p:nvSpPr>
        <p:spPr>
          <a:xfrm>
            <a:off x="3577165" y="6082595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Elipse 39"/>
          <p:cNvSpPr/>
          <p:nvPr/>
        </p:nvSpPr>
        <p:spPr>
          <a:xfrm>
            <a:off x="3591755" y="6230744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1" name="Conector recto de flecha 40"/>
          <p:cNvCxnSpPr/>
          <p:nvPr/>
        </p:nvCxnSpPr>
        <p:spPr>
          <a:xfrm flipV="1">
            <a:off x="2664167" y="2961564"/>
            <a:ext cx="849894" cy="39048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 flipV="1">
            <a:off x="2664167" y="3287512"/>
            <a:ext cx="836247" cy="6145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/>
          <p:nvPr/>
        </p:nvCxnSpPr>
        <p:spPr>
          <a:xfrm>
            <a:off x="2678787" y="3329739"/>
            <a:ext cx="756178" cy="8847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/>
          <p:nvPr/>
        </p:nvCxnSpPr>
        <p:spPr>
          <a:xfrm flipV="1">
            <a:off x="2639691" y="5358915"/>
            <a:ext cx="782087" cy="59048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/>
          <p:cNvCxnSpPr/>
          <p:nvPr/>
        </p:nvCxnSpPr>
        <p:spPr>
          <a:xfrm flipV="1">
            <a:off x="2632432" y="5827594"/>
            <a:ext cx="789346" cy="14126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/>
          <p:nvPr/>
        </p:nvCxnSpPr>
        <p:spPr>
          <a:xfrm>
            <a:off x="2677702" y="5968860"/>
            <a:ext cx="783394" cy="59944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3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02503" y="76713"/>
            <a:ext cx="82367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cada </a:t>
            </a:r>
            <a:r>
              <a:rPr lang="es-AR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uno de mis amigos tiene otros 100 amigos</a:t>
            </a:r>
          </a:p>
          <a:p>
            <a:endParaRPr lang="es-AR" sz="4000" dirty="0">
              <a:latin typeface="Comic Sans MS" panose="030F0702030302020204" pitchFamily="66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" y="3487651"/>
            <a:ext cx="609524" cy="105714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153" y="2869857"/>
            <a:ext cx="423591" cy="73466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41" y="3810128"/>
            <a:ext cx="423591" cy="73466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41" y="5605764"/>
            <a:ext cx="423591" cy="734666"/>
          </a:xfrm>
          <a:prstGeom prst="rect">
            <a:avLst/>
          </a:prstGeom>
        </p:spPr>
      </p:pic>
      <p:cxnSp>
        <p:nvCxnSpPr>
          <p:cNvPr id="11" name="Conector recto de flecha 10"/>
          <p:cNvCxnSpPr/>
          <p:nvPr/>
        </p:nvCxnSpPr>
        <p:spPr>
          <a:xfrm>
            <a:off x="1191904" y="4050139"/>
            <a:ext cx="1001013" cy="187739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V="1">
            <a:off x="1191904" y="3429557"/>
            <a:ext cx="848290" cy="62058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>
            <a:off x="1191904" y="4050139"/>
            <a:ext cx="855257" cy="57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2341748" y="4727539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Elipse 23"/>
          <p:cNvSpPr/>
          <p:nvPr/>
        </p:nvSpPr>
        <p:spPr>
          <a:xfrm>
            <a:off x="2347238" y="5021691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lipse 24"/>
          <p:cNvSpPr/>
          <p:nvPr/>
        </p:nvSpPr>
        <p:spPr>
          <a:xfrm>
            <a:off x="2345122" y="5265893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/>
          <p:cNvSpPr/>
          <p:nvPr/>
        </p:nvSpPr>
        <p:spPr>
          <a:xfrm>
            <a:off x="2340414" y="5487235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08" y="2597398"/>
            <a:ext cx="307314" cy="532998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08" y="3131925"/>
            <a:ext cx="307314" cy="532998"/>
          </a:xfrm>
          <a:prstGeom prst="rect">
            <a:avLst/>
          </a:prstGeom>
        </p:spPr>
      </p:pic>
      <p:pic>
        <p:nvPicPr>
          <p:cNvPr id="33" name="Imagen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061" y="4003226"/>
            <a:ext cx="307314" cy="532998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14" y="4954237"/>
            <a:ext cx="307314" cy="532998"/>
          </a:xfrm>
          <a:prstGeom prst="rect">
            <a:avLst/>
          </a:prstGeom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14" y="5447167"/>
            <a:ext cx="307314" cy="532998"/>
          </a:xfrm>
          <a:prstGeom prst="rect">
            <a:avLst/>
          </a:prstGeom>
        </p:spPr>
      </p:pic>
      <p:pic>
        <p:nvPicPr>
          <p:cNvPr id="36" name="Imagen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767" y="6325002"/>
            <a:ext cx="307314" cy="532998"/>
          </a:xfrm>
          <a:prstGeom prst="rect">
            <a:avLst/>
          </a:prstGeom>
        </p:spPr>
      </p:pic>
      <p:sp>
        <p:nvSpPr>
          <p:cNvPr id="37" name="Elipse 36"/>
          <p:cNvSpPr/>
          <p:nvPr/>
        </p:nvSpPr>
        <p:spPr>
          <a:xfrm>
            <a:off x="3601971" y="3688183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Elipse 37"/>
          <p:cNvSpPr/>
          <p:nvPr/>
        </p:nvSpPr>
        <p:spPr>
          <a:xfrm>
            <a:off x="3588324" y="3897189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Elipse 38"/>
          <p:cNvSpPr/>
          <p:nvPr/>
        </p:nvSpPr>
        <p:spPr>
          <a:xfrm>
            <a:off x="3577165" y="6082595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Elipse 39"/>
          <p:cNvSpPr/>
          <p:nvPr/>
        </p:nvSpPr>
        <p:spPr>
          <a:xfrm>
            <a:off x="3591755" y="6230744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1" name="Conector recto de flecha 40"/>
          <p:cNvCxnSpPr/>
          <p:nvPr/>
        </p:nvCxnSpPr>
        <p:spPr>
          <a:xfrm flipV="1">
            <a:off x="2664167" y="2961564"/>
            <a:ext cx="849894" cy="39048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 flipV="1">
            <a:off x="2664167" y="3287512"/>
            <a:ext cx="836247" cy="6145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/>
          <p:nvPr/>
        </p:nvCxnSpPr>
        <p:spPr>
          <a:xfrm>
            <a:off x="2678787" y="3329739"/>
            <a:ext cx="756178" cy="8847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/>
          <p:nvPr/>
        </p:nvCxnSpPr>
        <p:spPr>
          <a:xfrm flipV="1">
            <a:off x="2639691" y="5358915"/>
            <a:ext cx="782087" cy="59048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/>
          <p:cNvCxnSpPr/>
          <p:nvPr/>
        </p:nvCxnSpPr>
        <p:spPr>
          <a:xfrm flipV="1">
            <a:off x="2632432" y="5827594"/>
            <a:ext cx="789346" cy="14126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/>
          <p:nvPr/>
        </p:nvCxnSpPr>
        <p:spPr>
          <a:xfrm>
            <a:off x="2677702" y="5968860"/>
            <a:ext cx="783394" cy="59944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4520872" y="2195853"/>
            <a:ext cx="4572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sz="4000" dirty="0">
                <a:latin typeface="Comic Sans MS" panose="030F0702030302020204" pitchFamily="66" charset="0"/>
              </a:rPr>
              <a:t>Es decir yo estoy a distancia 2 de</a:t>
            </a:r>
          </a:p>
          <a:p>
            <a:endParaRPr lang="es-AR" sz="4000" dirty="0" smtClean="0">
              <a:latin typeface="Comic Sans MS" panose="030F0702030302020204" pitchFamily="66" charset="0"/>
            </a:endParaRPr>
          </a:p>
          <a:p>
            <a:r>
              <a:rPr lang="es-AR" sz="4000" dirty="0" smtClean="0">
                <a:latin typeface="Comic Sans MS" panose="030F0702030302020204" pitchFamily="66" charset="0"/>
              </a:rPr>
              <a:t>100 </a:t>
            </a:r>
            <a:r>
              <a:rPr lang="es-AR" sz="4000" dirty="0">
                <a:latin typeface="Comic Sans MS" panose="030F0702030302020204" pitchFamily="66" charset="0"/>
              </a:rPr>
              <a:t>x 100 =  10000 personas</a:t>
            </a:r>
          </a:p>
        </p:txBody>
      </p:sp>
    </p:spTree>
    <p:extLst>
      <p:ext uri="{BB962C8B-B14F-4D97-AF65-F5344CB8AC3E}">
        <p14:creationId xmlns:p14="http://schemas.microsoft.com/office/powerpoint/2010/main" val="67553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" y="3487651"/>
            <a:ext cx="609524" cy="105714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153" y="2869857"/>
            <a:ext cx="423591" cy="73466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41" y="3810128"/>
            <a:ext cx="423591" cy="73466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41" y="5605764"/>
            <a:ext cx="423591" cy="734666"/>
          </a:xfrm>
          <a:prstGeom prst="rect">
            <a:avLst/>
          </a:prstGeom>
        </p:spPr>
      </p:pic>
      <p:cxnSp>
        <p:nvCxnSpPr>
          <p:cNvPr id="11" name="Conector recto de flecha 10"/>
          <p:cNvCxnSpPr/>
          <p:nvPr/>
        </p:nvCxnSpPr>
        <p:spPr>
          <a:xfrm>
            <a:off x="1191904" y="4050139"/>
            <a:ext cx="1001013" cy="187739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V="1">
            <a:off x="1191904" y="3429557"/>
            <a:ext cx="848290" cy="62058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>
            <a:off x="1191904" y="4050139"/>
            <a:ext cx="855257" cy="57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2341748" y="4727539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Elipse 23"/>
          <p:cNvSpPr/>
          <p:nvPr/>
        </p:nvSpPr>
        <p:spPr>
          <a:xfrm>
            <a:off x="2347238" y="5021691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lipse 24"/>
          <p:cNvSpPr/>
          <p:nvPr/>
        </p:nvSpPr>
        <p:spPr>
          <a:xfrm>
            <a:off x="2345122" y="5265893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/>
          <p:cNvSpPr/>
          <p:nvPr/>
        </p:nvSpPr>
        <p:spPr>
          <a:xfrm>
            <a:off x="2340414" y="5487235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08" y="2597398"/>
            <a:ext cx="307314" cy="532998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08" y="3131925"/>
            <a:ext cx="307314" cy="532998"/>
          </a:xfrm>
          <a:prstGeom prst="rect">
            <a:avLst/>
          </a:prstGeom>
        </p:spPr>
      </p:pic>
      <p:pic>
        <p:nvPicPr>
          <p:cNvPr id="33" name="Imagen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061" y="4003226"/>
            <a:ext cx="307314" cy="532998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14" y="4954237"/>
            <a:ext cx="307314" cy="532998"/>
          </a:xfrm>
          <a:prstGeom prst="rect">
            <a:avLst/>
          </a:prstGeom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14" y="5447167"/>
            <a:ext cx="307314" cy="532998"/>
          </a:xfrm>
          <a:prstGeom prst="rect">
            <a:avLst/>
          </a:prstGeom>
        </p:spPr>
      </p:pic>
      <p:pic>
        <p:nvPicPr>
          <p:cNvPr id="36" name="Imagen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767" y="6325002"/>
            <a:ext cx="307314" cy="532998"/>
          </a:xfrm>
          <a:prstGeom prst="rect">
            <a:avLst/>
          </a:prstGeom>
        </p:spPr>
      </p:pic>
      <p:sp>
        <p:nvSpPr>
          <p:cNvPr id="37" name="Elipse 36"/>
          <p:cNvSpPr/>
          <p:nvPr/>
        </p:nvSpPr>
        <p:spPr>
          <a:xfrm>
            <a:off x="3601971" y="3688183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Elipse 37"/>
          <p:cNvSpPr/>
          <p:nvPr/>
        </p:nvSpPr>
        <p:spPr>
          <a:xfrm>
            <a:off x="3588324" y="3897189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Elipse 38"/>
          <p:cNvSpPr/>
          <p:nvPr/>
        </p:nvSpPr>
        <p:spPr>
          <a:xfrm>
            <a:off x="3577165" y="6082595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Elipse 39"/>
          <p:cNvSpPr/>
          <p:nvPr/>
        </p:nvSpPr>
        <p:spPr>
          <a:xfrm>
            <a:off x="3591755" y="6230744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1" name="Conector recto de flecha 40"/>
          <p:cNvCxnSpPr/>
          <p:nvPr/>
        </p:nvCxnSpPr>
        <p:spPr>
          <a:xfrm flipV="1">
            <a:off x="2664167" y="2961564"/>
            <a:ext cx="849894" cy="39048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 flipV="1">
            <a:off x="2664167" y="3287512"/>
            <a:ext cx="836247" cy="6145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/>
          <p:nvPr/>
        </p:nvCxnSpPr>
        <p:spPr>
          <a:xfrm>
            <a:off x="2678787" y="3329739"/>
            <a:ext cx="756178" cy="8847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/>
          <p:nvPr/>
        </p:nvCxnSpPr>
        <p:spPr>
          <a:xfrm flipV="1">
            <a:off x="2639691" y="5358915"/>
            <a:ext cx="782087" cy="59048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/>
          <p:cNvCxnSpPr/>
          <p:nvPr/>
        </p:nvCxnSpPr>
        <p:spPr>
          <a:xfrm flipV="1">
            <a:off x="2632432" y="5827594"/>
            <a:ext cx="789346" cy="14126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/>
          <p:nvPr/>
        </p:nvCxnSpPr>
        <p:spPr>
          <a:xfrm>
            <a:off x="2677702" y="5968860"/>
            <a:ext cx="783394" cy="59944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/>
          <p:cNvSpPr/>
          <p:nvPr/>
        </p:nvSpPr>
        <p:spPr>
          <a:xfrm>
            <a:off x="846196" y="430323"/>
            <a:ext cx="78610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Si cada una de </a:t>
            </a:r>
            <a:r>
              <a:rPr lang="es-AR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ellos </a:t>
            </a:r>
            <a:r>
              <a:rPr lang="es-AR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tiene otros 100 amigos</a:t>
            </a:r>
            <a:endParaRPr lang="es-AR" sz="4000" dirty="0"/>
          </a:p>
        </p:txBody>
      </p:sp>
      <p:sp>
        <p:nvSpPr>
          <p:cNvPr id="6" name="Elipse 5"/>
          <p:cNvSpPr/>
          <p:nvPr/>
        </p:nvSpPr>
        <p:spPr>
          <a:xfrm>
            <a:off x="3166957" y="2470245"/>
            <a:ext cx="914400" cy="43909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405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" y="3487651"/>
            <a:ext cx="609524" cy="105714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153" y="2869857"/>
            <a:ext cx="423591" cy="73466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41" y="3810128"/>
            <a:ext cx="423591" cy="73466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41" y="5605764"/>
            <a:ext cx="423591" cy="734666"/>
          </a:xfrm>
          <a:prstGeom prst="rect">
            <a:avLst/>
          </a:prstGeom>
        </p:spPr>
      </p:pic>
      <p:cxnSp>
        <p:nvCxnSpPr>
          <p:cNvPr id="11" name="Conector recto de flecha 10"/>
          <p:cNvCxnSpPr/>
          <p:nvPr/>
        </p:nvCxnSpPr>
        <p:spPr>
          <a:xfrm>
            <a:off x="1191904" y="4050139"/>
            <a:ext cx="1001013" cy="187739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V="1">
            <a:off x="1191904" y="3429557"/>
            <a:ext cx="848290" cy="62058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>
            <a:off x="1191904" y="4050139"/>
            <a:ext cx="855257" cy="57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2341748" y="4727539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Elipse 23"/>
          <p:cNvSpPr/>
          <p:nvPr/>
        </p:nvSpPr>
        <p:spPr>
          <a:xfrm>
            <a:off x="2347238" y="5021691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lipse 24"/>
          <p:cNvSpPr/>
          <p:nvPr/>
        </p:nvSpPr>
        <p:spPr>
          <a:xfrm>
            <a:off x="2345122" y="5265893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/>
          <p:cNvSpPr/>
          <p:nvPr/>
        </p:nvSpPr>
        <p:spPr>
          <a:xfrm>
            <a:off x="2340414" y="5487235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08" y="2597398"/>
            <a:ext cx="307314" cy="532998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708" y="3131925"/>
            <a:ext cx="307314" cy="532998"/>
          </a:xfrm>
          <a:prstGeom prst="rect">
            <a:avLst/>
          </a:prstGeom>
        </p:spPr>
      </p:pic>
      <p:pic>
        <p:nvPicPr>
          <p:cNvPr id="33" name="Imagen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061" y="4003226"/>
            <a:ext cx="307314" cy="532998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14" y="4954237"/>
            <a:ext cx="307314" cy="532998"/>
          </a:xfrm>
          <a:prstGeom prst="rect">
            <a:avLst/>
          </a:prstGeom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14" y="5447167"/>
            <a:ext cx="307314" cy="532998"/>
          </a:xfrm>
          <a:prstGeom prst="rect">
            <a:avLst/>
          </a:prstGeom>
        </p:spPr>
      </p:pic>
      <p:pic>
        <p:nvPicPr>
          <p:cNvPr id="36" name="Imagen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767" y="6325002"/>
            <a:ext cx="307314" cy="532998"/>
          </a:xfrm>
          <a:prstGeom prst="rect">
            <a:avLst/>
          </a:prstGeom>
        </p:spPr>
      </p:pic>
      <p:sp>
        <p:nvSpPr>
          <p:cNvPr id="37" name="Elipse 36"/>
          <p:cNvSpPr/>
          <p:nvPr/>
        </p:nvSpPr>
        <p:spPr>
          <a:xfrm>
            <a:off x="3601971" y="3688183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Elipse 37"/>
          <p:cNvSpPr/>
          <p:nvPr/>
        </p:nvSpPr>
        <p:spPr>
          <a:xfrm>
            <a:off x="3588324" y="3897189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Elipse 38"/>
          <p:cNvSpPr/>
          <p:nvPr/>
        </p:nvSpPr>
        <p:spPr>
          <a:xfrm>
            <a:off x="3577165" y="6082595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Elipse 39"/>
          <p:cNvSpPr/>
          <p:nvPr/>
        </p:nvSpPr>
        <p:spPr>
          <a:xfrm>
            <a:off x="3591755" y="6230744"/>
            <a:ext cx="104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1" name="Conector recto de flecha 40"/>
          <p:cNvCxnSpPr/>
          <p:nvPr/>
        </p:nvCxnSpPr>
        <p:spPr>
          <a:xfrm flipV="1">
            <a:off x="2664167" y="2961564"/>
            <a:ext cx="849894" cy="39048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 flipV="1">
            <a:off x="2664167" y="3287512"/>
            <a:ext cx="836247" cy="6145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/>
          <p:nvPr/>
        </p:nvCxnSpPr>
        <p:spPr>
          <a:xfrm>
            <a:off x="2678787" y="3329739"/>
            <a:ext cx="756178" cy="8847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/>
          <p:nvPr/>
        </p:nvCxnSpPr>
        <p:spPr>
          <a:xfrm flipV="1">
            <a:off x="2639691" y="5358915"/>
            <a:ext cx="782087" cy="59048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/>
          <p:cNvCxnSpPr/>
          <p:nvPr/>
        </p:nvCxnSpPr>
        <p:spPr>
          <a:xfrm flipV="1">
            <a:off x="2632432" y="5827594"/>
            <a:ext cx="789346" cy="14126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/>
          <p:nvPr/>
        </p:nvCxnSpPr>
        <p:spPr>
          <a:xfrm>
            <a:off x="2677702" y="5968860"/>
            <a:ext cx="783394" cy="59944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4569527" y="2183208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sz="4000" dirty="0">
                <a:latin typeface="Comic Sans MS" panose="030F0702030302020204" pitchFamily="66" charset="0"/>
              </a:rPr>
              <a:t>Yo estoy a distancia 3 de</a:t>
            </a:r>
          </a:p>
          <a:p>
            <a:endParaRPr lang="es-AR" sz="4000" dirty="0">
              <a:latin typeface="Comic Sans MS" panose="030F0702030302020204" pitchFamily="66" charset="0"/>
            </a:endParaRPr>
          </a:p>
          <a:p>
            <a:r>
              <a:rPr lang="es-AR" sz="4000" dirty="0">
                <a:latin typeface="Comic Sans MS" panose="030F0702030302020204" pitchFamily="66" charset="0"/>
              </a:rPr>
              <a:t>100 x </a:t>
            </a:r>
            <a:r>
              <a:rPr lang="es-AR" sz="4000" dirty="0" smtClean="0">
                <a:latin typeface="Comic Sans MS" panose="030F0702030302020204" pitchFamily="66" charset="0"/>
              </a:rPr>
              <a:t>10.000 </a:t>
            </a:r>
            <a:r>
              <a:rPr lang="es-AR" sz="4000" dirty="0">
                <a:latin typeface="Comic Sans MS" panose="030F0702030302020204" pitchFamily="66" charset="0"/>
              </a:rPr>
              <a:t>= 1.000.000 personas</a:t>
            </a:r>
          </a:p>
        </p:txBody>
      </p:sp>
      <p:sp>
        <p:nvSpPr>
          <p:cNvPr id="5" name="Rectángulo 4"/>
          <p:cNvSpPr/>
          <p:nvPr/>
        </p:nvSpPr>
        <p:spPr>
          <a:xfrm>
            <a:off x="846196" y="430323"/>
            <a:ext cx="78610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Si cada una de ellas tiene otros 100 amigos</a:t>
            </a:r>
            <a:endParaRPr lang="es-AR" sz="4000" dirty="0"/>
          </a:p>
        </p:txBody>
      </p:sp>
      <p:sp>
        <p:nvSpPr>
          <p:cNvPr id="6" name="Elipse 5"/>
          <p:cNvSpPr/>
          <p:nvPr/>
        </p:nvSpPr>
        <p:spPr>
          <a:xfrm>
            <a:off x="3166957" y="2470245"/>
            <a:ext cx="914400" cy="43909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687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91070" y="0"/>
            <a:ext cx="877551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4000" dirty="0" smtClean="0">
              <a:latin typeface="Comic Sans MS" panose="030F0702030302020204" pitchFamily="66" charset="0"/>
            </a:endParaRPr>
          </a:p>
          <a:p>
            <a:r>
              <a:rPr lang="es-AR" sz="4000" dirty="0" smtClean="0">
                <a:latin typeface="Comic Sans MS" panose="030F0702030302020204" pitchFamily="66" charset="0"/>
              </a:rPr>
              <a:t>…..siguiendo así….</a:t>
            </a:r>
          </a:p>
          <a:p>
            <a:endParaRPr lang="es-AR" sz="4000" dirty="0">
              <a:latin typeface="Comic Sans MS" panose="030F0702030302020204" pitchFamily="66" charset="0"/>
            </a:endParaRPr>
          </a:p>
          <a:p>
            <a:endParaRPr lang="es-AR" sz="4000" dirty="0">
              <a:latin typeface="Comic Sans MS" panose="030F0702030302020204" pitchFamily="66" charset="0"/>
            </a:endParaRPr>
          </a:p>
          <a:p>
            <a:endParaRPr lang="es-AR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52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191070" y="0"/>
                <a:ext cx="877551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s-AR" sz="4000" dirty="0" smtClean="0">
                  <a:latin typeface="Comic Sans MS" panose="030F0702030302020204" pitchFamily="66" charset="0"/>
                </a:endParaRP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…..siguiendo así….</a:t>
                </a: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Estoy a distancia 4 de</a:t>
                </a: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   </a:t>
                </a:r>
                <a:r>
                  <a:rPr lang="es-AR" sz="4000" dirty="0">
                    <a:latin typeface="Comic Sans MS" panose="030F0702030302020204" pitchFamily="66" charset="0"/>
                  </a:rPr>
                  <a:t>100x 1.000.000= </a:t>
                </a:r>
                <a:r>
                  <a:rPr lang="es-AR" sz="4000" dirty="0" smtClean="0">
                    <a:latin typeface="Comic Sans MS" panose="030F0702030302020204" pitchFamily="66" charset="0"/>
                  </a:rPr>
                  <a:t>100.000.000 </a:t>
                </a:r>
                <a:r>
                  <a:rPr lang="es-AR" sz="4000" dirty="0">
                    <a:latin typeface="Comic Sans MS" panose="030F0702030302020204" pitchFamily="66" charset="0"/>
                  </a:rPr>
                  <a:t>	</a:t>
                </a:r>
                <a:r>
                  <a:rPr lang="es-AR" sz="4000" dirty="0" smtClean="0">
                    <a:latin typeface="Comic Sans MS" panose="030F0702030302020204" pitchFamily="66" charset="0"/>
                  </a:rPr>
                  <a:t>			personas</a:t>
                </a: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Es decir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4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AR" sz="40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s-AR" sz="4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4000" dirty="0" smtClean="0">
                    <a:latin typeface="Comic Sans MS" panose="030F0702030302020204" pitchFamily="66" charset="0"/>
                  </a:rPr>
                  <a:t>personas</a:t>
                </a: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0" y="0"/>
                <a:ext cx="8775510" cy="5632311"/>
              </a:xfrm>
              <a:prstGeom prst="rect">
                <a:avLst/>
              </a:prstGeom>
              <a:blipFill rotWithShape="0">
                <a:blip r:embed="rId2"/>
                <a:stretch>
                  <a:fillRect l="-243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67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191070" y="0"/>
                <a:ext cx="877551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s-AR" sz="4000" dirty="0" smtClean="0">
                  <a:latin typeface="Comic Sans MS" panose="030F0702030302020204" pitchFamily="66" charset="0"/>
                </a:endParaRP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Y con la misma idea a distancia 5 de</a:t>
                </a: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10.000 millones </a:t>
                </a:r>
                <a:r>
                  <a:rPr lang="es-AR" sz="4000" dirty="0">
                    <a:latin typeface="Comic Sans MS" panose="030F0702030302020204" pitchFamily="66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4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AR" sz="4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s-AR" sz="4000" dirty="0">
                    <a:latin typeface="Comic Sans MS" panose="030F0702030302020204" pitchFamily="66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0" y="0"/>
                <a:ext cx="8775510" cy="2554545"/>
              </a:xfrm>
              <a:prstGeom prst="rect">
                <a:avLst/>
              </a:prstGeom>
              <a:blipFill rotWithShape="0">
                <a:blip r:embed="rId2"/>
                <a:stretch>
                  <a:fillRect l="-2431" r="-486" b="-954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05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191070" y="0"/>
                <a:ext cx="877551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s-AR" sz="4000" dirty="0" smtClean="0">
                  <a:latin typeface="Comic Sans MS" panose="030F0702030302020204" pitchFamily="66" charset="0"/>
                </a:endParaRP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Y con la misma idea a distancia 5 de</a:t>
                </a: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10.000 millones </a:t>
                </a:r>
                <a:r>
                  <a:rPr lang="es-AR" sz="4000" dirty="0">
                    <a:latin typeface="Comic Sans MS" panose="030F0702030302020204" pitchFamily="66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4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AR" sz="4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s-AR" sz="4000" dirty="0" smtClean="0">
                    <a:latin typeface="Comic Sans MS" panose="030F0702030302020204" pitchFamily="66" charset="0"/>
                  </a:rPr>
                  <a:t>)</a:t>
                </a:r>
              </a:p>
              <a:p>
                <a:pPr algn="ctr"/>
                <a:endParaRPr lang="es-AR" sz="4000" dirty="0" smtClean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s-AR" sz="4000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Pero la población mundial es de </a:t>
                </a:r>
                <a14:m>
                  <m:oMath xmlns:m="http://schemas.openxmlformats.org/officeDocument/2006/math">
                    <m:r>
                      <a:rPr lang="es-AR" sz="4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7.4 </m:t>
                    </m:r>
                    <m:r>
                      <m:rPr>
                        <m:sty m:val="p"/>
                      </m:rPr>
                      <a:rPr lang="es-AR" sz="4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s-AR" sz="4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AR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AR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s-AR" sz="4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‼</m:t>
                    </m:r>
                  </m:oMath>
                </a14:m>
                <a:endParaRPr lang="es-AR" sz="4000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0" y="0"/>
                <a:ext cx="8775510" cy="5632311"/>
              </a:xfrm>
              <a:prstGeom prst="rect">
                <a:avLst/>
              </a:prstGeom>
              <a:blipFill rotWithShape="0">
                <a:blip r:embed="rId2"/>
                <a:stretch>
                  <a:fillRect l="-2431" r="-4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28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191070" y="0"/>
                <a:ext cx="8775510" cy="7478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s-AR" sz="4000" dirty="0" smtClean="0">
                  <a:latin typeface="Comic Sans MS" panose="030F0702030302020204" pitchFamily="66" charset="0"/>
                </a:endParaRP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Y con la misma idea a distancia 5 de</a:t>
                </a: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  <a:p>
                <a:r>
                  <a:rPr lang="es-AR" sz="4000" dirty="0" smtClean="0">
                    <a:latin typeface="Comic Sans MS" panose="030F0702030302020204" pitchFamily="66" charset="0"/>
                  </a:rPr>
                  <a:t>10.000 millones </a:t>
                </a:r>
                <a:r>
                  <a:rPr lang="es-AR" sz="4000" dirty="0">
                    <a:latin typeface="Comic Sans MS" panose="030F0702030302020204" pitchFamily="66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4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AR" sz="4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s-AR" sz="4000" dirty="0" smtClean="0">
                    <a:latin typeface="Comic Sans MS" panose="030F0702030302020204" pitchFamily="66" charset="0"/>
                  </a:rPr>
                  <a:t>)</a:t>
                </a:r>
              </a:p>
              <a:p>
                <a:pPr algn="ctr"/>
                <a:endParaRPr lang="es-AR" sz="4000" dirty="0" smtClean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s-AR" sz="4000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Pero la población mundial es de </a:t>
                </a:r>
                <a14:m>
                  <m:oMath xmlns:m="http://schemas.openxmlformats.org/officeDocument/2006/math">
                    <m:r>
                      <a:rPr lang="es-AR" sz="4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7.4 </m:t>
                    </m:r>
                    <m:r>
                      <m:rPr>
                        <m:sty m:val="p"/>
                      </m:rPr>
                      <a:rPr lang="es-AR" sz="4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s-AR" sz="4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AR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AR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s-AR" sz="4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‼</m:t>
                    </m:r>
                  </m:oMath>
                </a14:m>
                <a:endParaRPr lang="es-AR" sz="4000" dirty="0" smtClean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  <a:p>
                <a:pPr algn="ctr"/>
                <a:endParaRPr lang="es-AR" sz="4000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  <a:p>
                <a:pPr algn="ctr"/>
                <a:r>
                  <a:rPr lang="es-AR" sz="40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Entonces probamos la teoría?</a:t>
                </a:r>
              </a:p>
              <a:p>
                <a:pPr algn="ctr"/>
                <a:endParaRPr lang="es-AR" sz="4000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  <a:p>
                <a:endParaRPr lang="es-AR" sz="4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0" y="0"/>
                <a:ext cx="8775510" cy="7478970"/>
              </a:xfrm>
              <a:prstGeom prst="rect">
                <a:avLst/>
              </a:prstGeom>
              <a:blipFill rotWithShape="0">
                <a:blip r:embed="rId2"/>
                <a:stretch>
                  <a:fillRect l="-2431" r="-4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58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02502" y="717916"/>
            <a:ext cx="823673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AR" sz="4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pPr algn="ctr"/>
            <a:r>
              <a:rPr lang="es-AR" sz="66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NO!!!!!</a:t>
            </a:r>
          </a:p>
          <a:p>
            <a:pPr algn="ctr"/>
            <a:endParaRPr lang="es-AR" sz="4000" dirty="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/>
            <a:endParaRPr lang="es-AR" sz="4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endParaRPr lang="es-AR" sz="4000" dirty="0">
              <a:solidFill>
                <a:srgbClr val="FFC000"/>
              </a:solidFill>
              <a:latin typeface="Comic Sans MS" panose="030F0702030302020204" pitchFamily="66" charset="0"/>
            </a:endParaRPr>
          </a:p>
          <a:p>
            <a:endParaRPr lang="es-AR" sz="4000" dirty="0" smtClean="0">
              <a:latin typeface="Comic Sans MS" panose="030F0702030302020204" pitchFamily="66" charset="0"/>
            </a:endParaRPr>
          </a:p>
          <a:p>
            <a:endParaRPr lang="es-AR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48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02502" y="717916"/>
            <a:ext cx="8236739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AR" sz="4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pPr algn="ctr"/>
            <a:r>
              <a:rPr lang="es-AR" sz="66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NO!!!!!</a:t>
            </a:r>
          </a:p>
          <a:p>
            <a:pPr algn="ctr"/>
            <a:endParaRPr lang="es-AR" sz="4000" dirty="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/>
            <a:endParaRPr lang="es-AR" sz="4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pPr algn="ctr"/>
            <a:r>
              <a:rPr lang="es-AR" sz="4000" dirty="0" smtClean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Por qué?</a:t>
            </a:r>
          </a:p>
          <a:p>
            <a:endParaRPr lang="es-AR" sz="4000" dirty="0">
              <a:solidFill>
                <a:srgbClr val="FFC000"/>
              </a:solidFill>
              <a:latin typeface="Comic Sans MS" panose="030F0702030302020204" pitchFamily="66" charset="0"/>
            </a:endParaRPr>
          </a:p>
          <a:p>
            <a:endParaRPr lang="es-AR" sz="4000" dirty="0" smtClean="0">
              <a:latin typeface="Comic Sans MS" panose="030F0702030302020204" pitchFamily="66" charset="0"/>
            </a:endParaRPr>
          </a:p>
          <a:p>
            <a:endParaRPr lang="es-AR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1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2" name="TextShape 2"/>
          <p:cNvSpPr txBox="1"/>
          <p:nvPr/>
        </p:nvSpPr>
        <p:spPr>
          <a:xfrm>
            <a:off x="457200" y="144000"/>
            <a:ext cx="1918800" cy="590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endParaRPr dirty="0"/>
          </a:p>
          <a:p>
            <a:pPr>
              <a:buSzPct val="45000"/>
              <a:buFont typeface="StarSymbol"/>
              <a:buChar char=""/>
            </a:pPr>
            <a:endParaRPr lang="es-AR" sz="3200" dirty="0" smtClean="0">
              <a:solidFill>
                <a:srgbClr val="FF6600"/>
              </a:solidFill>
              <a:latin typeface="Arial"/>
            </a:endParaRPr>
          </a:p>
          <a:p>
            <a:pPr>
              <a:buSzPct val="45000"/>
            </a:pPr>
            <a:r>
              <a:rPr lang="es-AR" sz="3200" dirty="0" smtClean="0">
                <a:solidFill>
                  <a:srgbClr val="FF6600"/>
                </a:solidFill>
                <a:latin typeface="Arial"/>
              </a:rPr>
              <a:t>1950</a:t>
            </a:r>
            <a:endParaRPr dirty="0"/>
          </a:p>
          <a:p>
            <a:endParaRPr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dirty="0"/>
          </a:p>
          <a:p>
            <a:endParaRPr dirty="0"/>
          </a:p>
        </p:txBody>
      </p:sp>
      <p:sp>
        <p:nvSpPr>
          <p:cNvPr id="83" name="TextShape 3"/>
          <p:cNvSpPr txBox="1"/>
          <p:nvPr/>
        </p:nvSpPr>
        <p:spPr>
          <a:xfrm>
            <a:off x="2240919" y="448012"/>
            <a:ext cx="6192000" cy="5832000"/>
          </a:xfrm>
          <a:prstGeom prst="rect">
            <a:avLst/>
          </a:prstGeom>
        </p:spPr>
        <p:txBody>
          <a:bodyPr lIns="0" tIns="0" rIns="0" bIns="0"/>
          <a:lstStyle/>
          <a:p>
            <a:pPr algn="just">
              <a:buSzPct val="45000"/>
              <a:buFont typeface="StarSymbol"/>
              <a:buChar char=""/>
            </a:pPr>
            <a:endParaRPr sz="32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>
                <a:latin typeface="Comic Sans MS" panose="030F0702030302020204" pitchFamily="66" charset="0"/>
              </a:rPr>
              <a:t>Pool (politólogo) y </a:t>
            </a:r>
            <a:r>
              <a:rPr lang="es-AR" sz="28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Kochen</a:t>
            </a:r>
            <a:r>
              <a:rPr lang="es-AR" sz="2800" dirty="0">
                <a:latin typeface="Comic Sans MS" panose="030F0702030302020204" pitchFamily="66" charset="0"/>
              </a:rPr>
              <a:t> (matemático) diseñaron </a:t>
            </a:r>
            <a:r>
              <a:rPr lang="es-AR" sz="2800" dirty="0" smtClean="0">
                <a:latin typeface="Comic Sans MS" panose="030F0702030302020204" pitchFamily="66" charset="0"/>
              </a:rPr>
              <a:t>diversos </a:t>
            </a:r>
            <a:r>
              <a:rPr lang="es-AR" sz="2800" dirty="0">
                <a:latin typeface="Comic Sans MS" panose="030F0702030302020204" pitchFamily="66" charset="0"/>
              </a:rPr>
              <a:t>modelos matemáticos para intentar probar la idea de </a:t>
            </a:r>
            <a:r>
              <a:rPr lang="es-AR" sz="2800" dirty="0" err="1">
                <a:latin typeface="Comic Sans MS" panose="030F0702030302020204" pitchFamily="66" charset="0"/>
              </a:rPr>
              <a:t>Karinthy</a:t>
            </a:r>
            <a:r>
              <a:rPr lang="es-AR" sz="2800" dirty="0">
                <a:latin typeface="Comic Sans MS" panose="030F0702030302020204" pitchFamily="66" charset="0"/>
              </a:rPr>
              <a:t>. Pero no pudieron.</a:t>
            </a:r>
            <a:endParaRPr sz="2800" dirty="0">
              <a:latin typeface="Comic Sans MS" panose="030F0702030302020204" pitchFamily="66" charset="0"/>
            </a:endParaRPr>
          </a:p>
          <a:p>
            <a:pPr algn="just"/>
            <a:endParaRPr sz="2800" dirty="0">
              <a:latin typeface="Comic Sans MS" panose="030F0702030302020204" pitchFamily="66" charset="0"/>
            </a:endParaRPr>
          </a:p>
          <a:p>
            <a:endParaRPr dirty="0"/>
          </a:p>
          <a:p>
            <a:r>
              <a:rPr lang="es-AR" sz="3200" dirty="0">
                <a:latin typeface="Arial"/>
              </a:rPr>
              <a:t>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2" name="TextShape 2"/>
          <p:cNvSpPr txBox="1"/>
          <p:nvPr/>
        </p:nvSpPr>
        <p:spPr>
          <a:xfrm>
            <a:off x="457200" y="144000"/>
            <a:ext cx="1918800" cy="590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endParaRPr dirty="0"/>
          </a:p>
          <a:p>
            <a:pPr>
              <a:buSzPct val="45000"/>
              <a:buFont typeface="StarSymbol"/>
              <a:buChar char=""/>
            </a:pPr>
            <a:endParaRPr lang="es-AR" sz="3200" dirty="0" smtClean="0">
              <a:solidFill>
                <a:srgbClr val="FF6600"/>
              </a:solidFill>
              <a:latin typeface="Arial"/>
            </a:endParaRPr>
          </a:p>
          <a:p>
            <a:pPr>
              <a:buSzPct val="45000"/>
            </a:pPr>
            <a:r>
              <a:rPr lang="es-AR" sz="3200" dirty="0" smtClean="0">
                <a:solidFill>
                  <a:srgbClr val="FF6600"/>
                </a:solidFill>
                <a:latin typeface="Arial"/>
              </a:rPr>
              <a:t>1950</a:t>
            </a:r>
            <a:endParaRPr dirty="0"/>
          </a:p>
          <a:p>
            <a:endParaRPr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dirty="0"/>
          </a:p>
          <a:p>
            <a:r>
              <a:rPr lang="es-AR" sz="3200" dirty="0" smtClean="0">
                <a:solidFill>
                  <a:srgbClr val="FF6600"/>
                </a:solidFill>
                <a:latin typeface="Arial"/>
              </a:rPr>
              <a:t>1967</a:t>
            </a:r>
            <a:endParaRPr dirty="0"/>
          </a:p>
        </p:txBody>
      </p:sp>
      <p:sp>
        <p:nvSpPr>
          <p:cNvPr id="83" name="TextShape 3"/>
          <p:cNvSpPr txBox="1"/>
          <p:nvPr/>
        </p:nvSpPr>
        <p:spPr>
          <a:xfrm>
            <a:off x="2240919" y="448012"/>
            <a:ext cx="6192000" cy="5832000"/>
          </a:xfrm>
          <a:prstGeom prst="rect">
            <a:avLst/>
          </a:prstGeom>
        </p:spPr>
        <p:txBody>
          <a:bodyPr lIns="0" tIns="0" rIns="0" bIns="0"/>
          <a:lstStyle/>
          <a:p>
            <a:pPr algn="just">
              <a:buSzPct val="45000"/>
              <a:buFont typeface="StarSymbol"/>
              <a:buChar char=""/>
            </a:pPr>
            <a:endParaRPr sz="32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>
                <a:latin typeface="Comic Sans MS" panose="030F0702030302020204" pitchFamily="66" charset="0"/>
              </a:rPr>
              <a:t>Pool (politólogo) y </a:t>
            </a:r>
            <a:r>
              <a:rPr lang="es-AR" sz="28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Kochen</a:t>
            </a:r>
            <a:r>
              <a:rPr lang="es-AR" sz="2800" dirty="0">
                <a:latin typeface="Comic Sans MS" panose="030F0702030302020204" pitchFamily="66" charset="0"/>
              </a:rPr>
              <a:t> (matemático) diseñaron </a:t>
            </a:r>
            <a:r>
              <a:rPr lang="es-AR" sz="2800" dirty="0" smtClean="0">
                <a:latin typeface="Comic Sans MS" panose="030F0702030302020204" pitchFamily="66" charset="0"/>
              </a:rPr>
              <a:t>diversos </a:t>
            </a:r>
            <a:r>
              <a:rPr lang="es-AR" sz="2800" dirty="0">
                <a:latin typeface="Comic Sans MS" panose="030F0702030302020204" pitchFamily="66" charset="0"/>
              </a:rPr>
              <a:t>modelos matemáticos para intentar probar la idea de </a:t>
            </a:r>
            <a:r>
              <a:rPr lang="es-AR" sz="2800" dirty="0" err="1">
                <a:latin typeface="Comic Sans MS" panose="030F0702030302020204" pitchFamily="66" charset="0"/>
              </a:rPr>
              <a:t>Karinthy</a:t>
            </a:r>
            <a:r>
              <a:rPr lang="es-AR" sz="2800" dirty="0">
                <a:latin typeface="Comic Sans MS" panose="030F0702030302020204" pitchFamily="66" charset="0"/>
              </a:rPr>
              <a:t>. Pero no pudieron.</a:t>
            </a:r>
            <a:endParaRPr sz="2800" dirty="0">
              <a:latin typeface="Comic Sans MS" panose="030F0702030302020204" pitchFamily="66" charset="0"/>
            </a:endParaRPr>
          </a:p>
          <a:p>
            <a:pPr algn="just"/>
            <a:endParaRPr sz="28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Milgram</a:t>
            </a:r>
            <a:r>
              <a:rPr lang="es-AR" sz="2800" dirty="0">
                <a:latin typeface="Comic Sans MS" panose="030F0702030302020204" pitchFamily="66" charset="0"/>
              </a:rPr>
              <a:t> (psicólogo) </a:t>
            </a:r>
            <a:r>
              <a:rPr lang="es-AR" sz="2800" dirty="0" smtClean="0">
                <a:latin typeface="Comic Sans MS" panose="030F0702030302020204" pitchFamily="66" charset="0"/>
              </a:rPr>
              <a:t>realizó </a:t>
            </a:r>
            <a:r>
              <a:rPr lang="es-AR" sz="2800" dirty="0">
                <a:latin typeface="Comic Sans MS" panose="030F0702030302020204" pitchFamily="66" charset="0"/>
              </a:rPr>
              <a:t>el primer experimento y </a:t>
            </a:r>
            <a:r>
              <a:rPr lang="es-AR" sz="2800" dirty="0" smtClean="0">
                <a:latin typeface="Comic Sans MS" panose="030F0702030302020204" pitchFamily="66" charset="0"/>
              </a:rPr>
              <a:t>concluyó </a:t>
            </a:r>
            <a:r>
              <a:rPr lang="es-AR" sz="2800" dirty="0">
                <a:latin typeface="Comic Sans MS" panose="030F0702030302020204" pitchFamily="66" charset="0"/>
              </a:rPr>
              <a:t>que era cierto!!</a:t>
            </a:r>
            <a:endParaRPr sz="2800" dirty="0">
              <a:latin typeface="Comic Sans MS" panose="030F0702030302020204" pitchFamily="66" charset="0"/>
            </a:endParaRPr>
          </a:p>
          <a:p>
            <a:endParaRPr dirty="0"/>
          </a:p>
          <a:p>
            <a:r>
              <a:rPr lang="es-AR" sz="3200" dirty="0">
                <a:latin typeface="Arial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004657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" name="CuadroTexto 2"/>
          <p:cNvSpPr txBox="1"/>
          <p:nvPr/>
        </p:nvSpPr>
        <p:spPr>
          <a:xfrm>
            <a:off x="457200" y="1416960"/>
            <a:ext cx="72537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dirty="0" err="1" smtClean="0">
                <a:latin typeface="Comic Sans MS" panose="030F0702030302020204" pitchFamily="66" charset="0"/>
              </a:rPr>
              <a:t>Milgram</a:t>
            </a:r>
            <a:r>
              <a:rPr lang="es-AR" sz="2000" dirty="0" smtClean="0">
                <a:latin typeface="Comic Sans MS" panose="030F0702030302020204" pitchFamily="66" charset="0"/>
              </a:rPr>
              <a:t> realizó un experimento para tratar de probar lo que el llamo  “el problema del mundo pequeño”.</a:t>
            </a:r>
          </a:p>
          <a:p>
            <a:endParaRPr lang="es-AR" dirty="0"/>
          </a:p>
        </p:txBody>
      </p:sp>
      <p:sp>
        <p:nvSpPr>
          <p:cNvPr id="7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>
                <a:solidFill>
                  <a:srgbClr val="FF6600"/>
                </a:solidFill>
                <a:latin typeface="Comic Sans MS" panose="030F0702030302020204" pitchFamily="66" charset="0"/>
              </a:rPr>
              <a:t>Experimento de </a:t>
            </a:r>
            <a:r>
              <a:rPr lang="es-AR" sz="4000" dirty="0" err="1">
                <a:solidFill>
                  <a:srgbClr val="FF6600"/>
                </a:solidFill>
                <a:latin typeface="Comic Sans MS" panose="030F0702030302020204" pitchFamily="66" charset="0"/>
              </a:rPr>
              <a:t>Milgram</a:t>
            </a:r>
            <a:endParaRPr sz="40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" name="CuadroTexto 2"/>
          <p:cNvSpPr txBox="1"/>
          <p:nvPr/>
        </p:nvSpPr>
        <p:spPr>
          <a:xfrm>
            <a:off x="457200" y="1416960"/>
            <a:ext cx="725378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dirty="0" err="1" smtClean="0">
                <a:latin typeface="Comic Sans MS" panose="030F0702030302020204" pitchFamily="66" charset="0"/>
              </a:rPr>
              <a:t>Milgram</a:t>
            </a:r>
            <a:r>
              <a:rPr lang="es-AR" sz="2000" dirty="0" smtClean="0">
                <a:latin typeface="Comic Sans MS" panose="030F0702030302020204" pitchFamily="66" charset="0"/>
              </a:rPr>
              <a:t> realizó un experimento para tratar de probar lo que el llamo  “el problema del mundo pequeño”.</a:t>
            </a:r>
          </a:p>
          <a:p>
            <a:endParaRPr lang="es-AR" sz="2000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Eligió </a:t>
            </a:r>
            <a:r>
              <a:rPr lang="es-AR" sz="2000" dirty="0">
                <a:latin typeface="Comic Sans MS" panose="030F0702030302020204" pitchFamily="66" charset="0"/>
              </a:rPr>
              <a:t>al azar gente en dos ciudades </a:t>
            </a:r>
            <a:r>
              <a:rPr lang="es-AR" sz="2000" dirty="0" smtClean="0">
                <a:latin typeface="Comic Sans MS" panose="030F0702030302020204" pitchFamily="66" charset="0"/>
              </a:rPr>
              <a:t> </a:t>
            </a:r>
            <a:r>
              <a:rPr lang="es-AR" sz="2000" dirty="0">
                <a:latin typeface="Comic Sans MS" panose="030F0702030302020204" pitchFamily="66" charset="0"/>
              </a:rPr>
              <a:t>de Estados </a:t>
            </a:r>
            <a:r>
              <a:rPr lang="es-AR" sz="2000" dirty="0" smtClean="0">
                <a:latin typeface="Comic Sans MS" panose="030F0702030302020204" pitchFamily="66" charset="0"/>
              </a:rPr>
              <a:t>Unidos. </a:t>
            </a:r>
            <a:r>
              <a:rPr lang="es-AR" sz="2000" dirty="0">
                <a:latin typeface="Comic Sans MS" panose="030F0702030302020204" pitchFamily="66" charset="0"/>
              </a:rPr>
              <a:t>Cada una de estas personas tenía que enviar un paquete a quien se le indicaba</a:t>
            </a:r>
            <a:r>
              <a:rPr lang="es-AR" sz="2000" dirty="0" smtClean="0">
                <a:latin typeface="Comic Sans MS" panose="030F0702030302020204" pitchFamily="66" charset="0"/>
              </a:rPr>
              <a:t>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Los </a:t>
            </a:r>
            <a:r>
              <a:rPr lang="es-AR" sz="2000" dirty="0">
                <a:latin typeface="Comic Sans MS" panose="030F0702030302020204" pitchFamily="66" charset="0"/>
              </a:rPr>
              <a:t>destinatarios, en principio desconocidos para los remitentes, vivían todos </a:t>
            </a:r>
            <a:r>
              <a:rPr lang="es-AR" sz="2000" dirty="0" smtClean="0">
                <a:latin typeface="Comic Sans MS" panose="030F0702030302020204" pitchFamily="66" charset="0"/>
              </a:rPr>
              <a:t>en </a:t>
            </a:r>
            <a:r>
              <a:rPr lang="es-AR" sz="2000" dirty="0">
                <a:latin typeface="Comic Sans MS" panose="030F0702030302020204" pitchFamily="66" charset="0"/>
              </a:rPr>
              <a:t>el área de Boston. </a:t>
            </a:r>
            <a:endParaRPr lang="es-AR" sz="2000" dirty="0" smtClean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Los </a:t>
            </a:r>
            <a:r>
              <a:rPr lang="es-AR" sz="2000" dirty="0">
                <a:latin typeface="Comic Sans MS" panose="030F0702030302020204" pitchFamily="66" charset="0"/>
              </a:rPr>
              <a:t>remitentes sólo conocían el nombre del destinatario, la ocupación y el </a:t>
            </a:r>
            <a:r>
              <a:rPr lang="es-AR" sz="2000" dirty="0" smtClean="0">
                <a:latin typeface="Comic Sans MS" panose="030F0702030302020204" pitchFamily="66" charset="0"/>
              </a:rPr>
              <a:t>barrio.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Si no </a:t>
            </a:r>
            <a:r>
              <a:rPr lang="es-AR" sz="2000" dirty="0">
                <a:latin typeface="Comic Sans MS" panose="030F0702030302020204" pitchFamily="66" charset="0"/>
              </a:rPr>
              <a:t>conocían a la persona a la que debían hacer el </a:t>
            </a:r>
            <a:r>
              <a:rPr lang="es-AR" sz="2000" dirty="0" smtClean="0">
                <a:latin typeface="Comic Sans MS" panose="030F0702030302020204" pitchFamily="66" charset="0"/>
              </a:rPr>
              <a:t>envío, </a:t>
            </a:r>
            <a:r>
              <a:rPr lang="es-AR" sz="2000" dirty="0">
                <a:latin typeface="Comic Sans MS" panose="030F0702030302020204" pitchFamily="66" charset="0"/>
              </a:rPr>
              <a:t>debían elegir a alguna persona que ellos sí conocieran y que supusieran o pensaran que a ésta le sería más fácil acceder al destinatario del paquete. </a:t>
            </a:r>
            <a:endParaRPr lang="es-AR" sz="2000" dirty="0" smtClean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Repetir </a:t>
            </a:r>
            <a:r>
              <a:rPr lang="es-AR" sz="2000" dirty="0">
                <a:latin typeface="Comic Sans MS" panose="030F0702030302020204" pitchFamily="66" charset="0"/>
              </a:rPr>
              <a:t>el procedimiento, hasta que la encomienda</a:t>
            </a:r>
            <a:r>
              <a:rPr lang="es-AR" sz="2000" dirty="0" smtClean="0">
                <a:latin typeface="Comic Sans MS" panose="030F0702030302020204" pitchFamily="66" charset="0"/>
              </a:rPr>
              <a:t>, </a:t>
            </a:r>
            <a:r>
              <a:rPr lang="es-AR" sz="2000" dirty="0">
                <a:latin typeface="Comic Sans MS" panose="030F0702030302020204" pitchFamily="66" charset="0"/>
              </a:rPr>
              <a:t>l</a:t>
            </a:r>
            <a:r>
              <a:rPr lang="es-AR" sz="2000" dirty="0" smtClean="0">
                <a:latin typeface="Comic Sans MS" panose="030F0702030302020204" pitchFamily="66" charset="0"/>
              </a:rPr>
              <a:t>legara </a:t>
            </a:r>
            <a:r>
              <a:rPr lang="es-AR" sz="2000" dirty="0">
                <a:latin typeface="Comic Sans MS" panose="030F0702030302020204" pitchFamily="66" charset="0"/>
              </a:rPr>
              <a:t>al destinatario final. </a:t>
            </a:r>
          </a:p>
        </p:txBody>
      </p:sp>
      <p:sp>
        <p:nvSpPr>
          <p:cNvPr id="5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>
                <a:solidFill>
                  <a:srgbClr val="FF6600"/>
                </a:solidFill>
                <a:latin typeface="Comic Sans MS" panose="030F0702030302020204" pitchFamily="66" charset="0"/>
              </a:rPr>
              <a:t>Experimento de </a:t>
            </a:r>
            <a:r>
              <a:rPr lang="es-AR" sz="4000" dirty="0" err="1">
                <a:solidFill>
                  <a:srgbClr val="FF6600"/>
                </a:solidFill>
                <a:latin typeface="Comic Sans MS" panose="030F0702030302020204" pitchFamily="66" charset="0"/>
              </a:rPr>
              <a:t>Milgram</a:t>
            </a:r>
            <a:endParaRPr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26233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2"/>
          <p:cNvSpPr/>
          <p:nvPr/>
        </p:nvSpPr>
        <p:spPr>
          <a:xfrm>
            <a:off x="709684" y="1886803"/>
            <a:ext cx="7976396" cy="423859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82340"/>
            <a:ext cx="8059003" cy="3016370"/>
          </a:xfrm>
          <a:prstGeom prst="rect">
            <a:avLst/>
          </a:prstGeom>
        </p:spPr>
      </p:pic>
      <p:sp>
        <p:nvSpPr>
          <p:cNvPr id="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>
                <a:solidFill>
                  <a:srgbClr val="FF6600"/>
                </a:solidFill>
                <a:latin typeface="Comic Sans MS" panose="030F0702030302020204" pitchFamily="66" charset="0"/>
              </a:rPr>
              <a:t>Experimento de </a:t>
            </a:r>
            <a:r>
              <a:rPr lang="es-AR" sz="4000" dirty="0" err="1">
                <a:solidFill>
                  <a:srgbClr val="FF6600"/>
                </a:solidFill>
                <a:latin typeface="Comic Sans MS" panose="030F0702030302020204" pitchFamily="66" charset="0"/>
              </a:rPr>
              <a:t>Milgram</a:t>
            </a:r>
            <a:endParaRPr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2273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2"/>
          <p:cNvSpPr/>
          <p:nvPr/>
        </p:nvSpPr>
        <p:spPr>
          <a:xfrm>
            <a:off x="709684" y="1886803"/>
            <a:ext cx="7976396" cy="423859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82340"/>
            <a:ext cx="8059003" cy="301637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31" y="1992570"/>
            <a:ext cx="8031672" cy="3006140"/>
          </a:xfrm>
          <a:prstGeom prst="rect">
            <a:avLst/>
          </a:prstGeom>
        </p:spPr>
      </p:pic>
      <p:sp>
        <p:nvSpPr>
          <p:cNvPr id="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>
                <a:solidFill>
                  <a:srgbClr val="FF6600"/>
                </a:solidFill>
                <a:latin typeface="Comic Sans MS" panose="030F0702030302020204" pitchFamily="66" charset="0"/>
              </a:rPr>
              <a:t>Experimento de </a:t>
            </a:r>
            <a:r>
              <a:rPr lang="es-AR" sz="4000" dirty="0" err="1">
                <a:solidFill>
                  <a:srgbClr val="FF6600"/>
                </a:solidFill>
                <a:latin typeface="Comic Sans MS" panose="030F0702030302020204" pitchFamily="66" charset="0"/>
              </a:rPr>
              <a:t>Milgram</a:t>
            </a:r>
            <a:endParaRPr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3623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" name="CuadroTexto 2"/>
          <p:cNvSpPr txBox="1"/>
          <p:nvPr/>
        </p:nvSpPr>
        <p:spPr>
          <a:xfrm>
            <a:off x="457200" y="1416960"/>
            <a:ext cx="72537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>
                <a:latin typeface="Comic Sans MS" panose="030F0702030302020204" pitchFamily="66" charset="0"/>
              </a:rPr>
              <a:t>La </a:t>
            </a:r>
            <a:r>
              <a:rPr lang="es-AR" sz="2000" dirty="0">
                <a:latin typeface="Comic Sans MS" panose="030F0702030302020204" pitchFamily="66" charset="0"/>
              </a:rPr>
              <a:t>mayoría de los que </a:t>
            </a:r>
            <a:r>
              <a:rPr lang="es-AR" sz="2000" dirty="0" smtClean="0">
                <a:latin typeface="Comic Sans MS" panose="030F0702030302020204" pitchFamily="66" charset="0"/>
              </a:rPr>
              <a:t>participaron en el experimento, </a:t>
            </a:r>
            <a:r>
              <a:rPr lang="es-AR" sz="2000" dirty="0">
                <a:latin typeface="Comic Sans MS" panose="030F0702030302020204" pitchFamily="66" charset="0"/>
              </a:rPr>
              <a:t>pensaron que la cadena incluiría a cientos de intermediarios</a:t>
            </a:r>
            <a:r>
              <a:rPr lang="es-AR" sz="2000" dirty="0" smtClean="0">
                <a:latin typeface="Comic Sans MS" panose="030F0702030302020204" pitchFamily="66" charset="0"/>
              </a:rPr>
              <a:t>. </a:t>
            </a:r>
          </a:p>
          <a:p>
            <a:endParaRPr lang="es-AR" dirty="0">
              <a:latin typeface="Comic Sans MS" panose="030F0702030302020204" pitchFamily="66" charset="0"/>
            </a:endParaRPr>
          </a:p>
          <a:p>
            <a:endParaRPr lang="es-AR" dirty="0" smtClean="0">
              <a:latin typeface="Comic Sans MS" panose="030F0702030302020204" pitchFamily="66" charset="0"/>
            </a:endParaRPr>
          </a:p>
          <a:p>
            <a:endParaRPr lang="es-AR" dirty="0">
              <a:latin typeface="Comic Sans MS" panose="030F0702030302020204" pitchFamily="66" charset="0"/>
            </a:endParaRPr>
          </a:p>
          <a:p>
            <a:endParaRPr lang="es-AR" dirty="0" smtClean="0">
              <a:latin typeface="Comic Sans MS" panose="030F0702030302020204" pitchFamily="66" charset="0"/>
            </a:endParaRPr>
          </a:p>
          <a:p>
            <a:endParaRPr lang="es-AR" dirty="0">
              <a:latin typeface="Comic Sans MS" panose="030F0702030302020204" pitchFamily="66" charset="0"/>
            </a:endParaRPr>
          </a:p>
          <a:p>
            <a:endParaRPr lang="es-AR" dirty="0" smtClean="0">
              <a:latin typeface="Comic Sans MS" panose="030F0702030302020204" pitchFamily="66" charset="0"/>
            </a:endParaRPr>
          </a:p>
          <a:p>
            <a:r>
              <a:rPr lang="es-AR" dirty="0" smtClean="0">
                <a:latin typeface="Comic Sans MS" panose="030F0702030302020204" pitchFamily="66" charset="0"/>
              </a:rPr>
              <a:t> </a:t>
            </a:r>
          </a:p>
          <a:p>
            <a:endParaRPr lang="es-AR" dirty="0">
              <a:latin typeface="Comic Sans MS" panose="030F0702030302020204" pitchFamily="66" charset="0"/>
            </a:endParaRPr>
          </a:p>
          <a:p>
            <a:endParaRPr lang="es-AR" dirty="0" smtClean="0">
              <a:latin typeface="Comic Sans MS" panose="030F0702030302020204" pitchFamily="66" charset="0"/>
            </a:endParaRPr>
          </a:p>
          <a:p>
            <a:endParaRPr lang="es-AR" dirty="0">
              <a:latin typeface="Comic Sans MS" panose="030F0702030302020204" pitchFamily="66" charset="0"/>
            </a:endParaRPr>
          </a:p>
        </p:txBody>
      </p:sp>
      <p:sp>
        <p:nvSpPr>
          <p:cNvPr id="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>
                <a:solidFill>
                  <a:srgbClr val="FF6600"/>
                </a:solidFill>
                <a:latin typeface="Comic Sans MS" panose="030F0702030302020204" pitchFamily="66" charset="0"/>
              </a:rPr>
              <a:t>Experimento de </a:t>
            </a:r>
            <a:r>
              <a:rPr lang="es-AR" sz="4000" dirty="0" err="1">
                <a:solidFill>
                  <a:srgbClr val="FF6600"/>
                </a:solidFill>
                <a:latin typeface="Comic Sans MS" panose="030F0702030302020204" pitchFamily="66" charset="0"/>
              </a:rPr>
              <a:t>Milgram</a:t>
            </a:r>
            <a:endParaRPr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17619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>
                <a:solidFill>
                  <a:srgbClr val="FF6600"/>
                </a:solidFill>
                <a:latin typeface="Comic Sans MS" panose="030F0702030302020204" pitchFamily="66" charset="0"/>
              </a:rPr>
              <a:t>Experimento de </a:t>
            </a:r>
            <a:r>
              <a:rPr lang="es-AR" sz="4000" dirty="0" err="1">
                <a:solidFill>
                  <a:srgbClr val="FF6600"/>
                </a:solidFill>
                <a:latin typeface="Comic Sans MS" panose="030F0702030302020204" pitchFamily="66" charset="0"/>
              </a:rPr>
              <a:t>Milgram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" name="CuadroTexto 2"/>
          <p:cNvSpPr txBox="1"/>
          <p:nvPr/>
        </p:nvSpPr>
        <p:spPr>
          <a:xfrm>
            <a:off x="457200" y="1416960"/>
            <a:ext cx="7253785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>
                <a:latin typeface="Comic Sans MS" panose="030F0702030302020204" pitchFamily="66" charset="0"/>
              </a:rPr>
              <a:t>La </a:t>
            </a:r>
            <a:r>
              <a:rPr lang="es-AR" sz="2000" dirty="0">
                <a:latin typeface="Comic Sans MS" panose="030F0702030302020204" pitchFamily="66" charset="0"/>
              </a:rPr>
              <a:t>mayoría de los que </a:t>
            </a:r>
            <a:r>
              <a:rPr lang="es-AR" sz="2000" dirty="0" smtClean="0">
                <a:latin typeface="Comic Sans MS" panose="030F0702030302020204" pitchFamily="66" charset="0"/>
              </a:rPr>
              <a:t>participaron en el experimento, </a:t>
            </a:r>
            <a:r>
              <a:rPr lang="es-AR" sz="2000" dirty="0">
                <a:latin typeface="Comic Sans MS" panose="030F0702030302020204" pitchFamily="66" charset="0"/>
              </a:rPr>
              <a:t>pensaron que la cadena incluiría a cientos de intermediarios</a:t>
            </a:r>
            <a:r>
              <a:rPr lang="es-AR" sz="2000" dirty="0" smtClean="0">
                <a:latin typeface="Comic Sans MS" panose="030F0702030302020204" pitchFamily="66" charset="0"/>
              </a:rPr>
              <a:t>.</a:t>
            </a:r>
          </a:p>
          <a:p>
            <a:endParaRPr lang="es-AR" sz="2000" dirty="0">
              <a:latin typeface="Comic Sans MS" panose="030F0702030302020204" pitchFamily="66" charset="0"/>
            </a:endParaRPr>
          </a:p>
          <a:p>
            <a:endParaRPr lang="es-AR" sz="2000" dirty="0" smtClean="0">
              <a:latin typeface="Comic Sans MS" panose="030F0702030302020204" pitchFamily="66" charset="0"/>
            </a:endParaRPr>
          </a:p>
          <a:p>
            <a:r>
              <a:rPr lang="es-AR" sz="2000" dirty="0" smtClean="0">
                <a:latin typeface="Comic Sans MS" panose="030F0702030302020204" pitchFamily="66" charset="0"/>
              </a:rPr>
              <a:t> </a:t>
            </a:r>
          </a:p>
          <a:p>
            <a:endParaRPr lang="es-AR" dirty="0">
              <a:latin typeface="Comic Sans MS" panose="030F0702030302020204" pitchFamily="66" charset="0"/>
            </a:endParaRPr>
          </a:p>
          <a:p>
            <a:endParaRPr lang="es-AR" dirty="0" smtClean="0">
              <a:latin typeface="Comic Sans MS" panose="030F0702030302020204" pitchFamily="66" charset="0"/>
            </a:endParaRPr>
          </a:p>
          <a:p>
            <a:endParaRPr lang="es-AR" dirty="0">
              <a:latin typeface="Comic Sans MS" panose="030F0702030302020204" pitchFamily="66" charset="0"/>
            </a:endParaRPr>
          </a:p>
          <a:p>
            <a:endParaRPr lang="es-AR" dirty="0" smtClean="0">
              <a:latin typeface="Comic Sans MS" panose="030F0702030302020204" pitchFamily="66" charset="0"/>
            </a:endParaRPr>
          </a:p>
          <a:p>
            <a:endParaRPr lang="es-AR" dirty="0">
              <a:latin typeface="Comic Sans MS" panose="030F0702030302020204" pitchFamily="66" charset="0"/>
            </a:endParaRPr>
          </a:p>
          <a:p>
            <a:endParaRPr lang="es-AR" dirty="0" smtClean="0">
              <a:latin typeface="Comic Sans MS" panose="030F0702030302020204" pitchFamily="66" charset="0"/>
            </a:endParaRPr>
          </a:p>
          <a:p>
            <a:r>
              <a:rPr lang="es-AR" dirty="0" smtClean="0">
                <a:latin typeface="Comic Sans MS" panose="030F0702030302020204" pitchFamily="66" charset="0"/>
              </a:rPr>
              <a:t> </a:t>
            </a:r>
          </a:p>
          <a:p>
            <a:endParaRPr lang="es-AR" sz="2000" dirty="0" smtClean="0">
              <a:latin typeface="Comic Sans MS" panose="030F0702030302020204" pitchFamily="66" charset="0"/>
            </a:endParaRPr>
          </a:p>
          <a:p>
            <a:r>
              <a:rPr lang="es-AR" sz="2000" dirty="0" smtClean="0">
                <a:latin typeface="Comic Sans MS" panose="030F0702030302020204" pitchFamily="66" charset="0"/>
              </a:rPr>
              <a:t>Esto causó asombro pero es un estudio muy reducido.</a:t>
            </a:r>
            <a:endParaRPr lang="es-AR" sz="2000" dirty="0">
              <a:latin typeface="Comic Sans MS" panose="030F0702030302020204" pitchFamily="66" charset="0"/>
            </a:endParaRPr>
          </a:p>
          <a:p>
            <a:endParaRPr lang="es-AR" dirty="0" smtClean="0">
              <a:latin typeface="Comic Sans MS" panose="030F0702030302020204" pitchFamily="66" charset="0"/>
            </a:endParaRPr>
          </a:p>
          <a:p>
            <a:endParaRPr lang="es-AR" dirty="0">
              <a:latin typeface="Comic Sans MS" panose="030F0702030302020204" pitchFamily="66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555109"/>
              </p:ext>
            </p:extLst>
          </p:nvPr>
        </p:nvGraphicFramePr>
        <p:xfrm>
          <a:off x="457200" y="2333767"/>
          <a:ext cx="7369792" cy="242478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842448"/>
                <a:gridCol w="1842448"/>
                <a:gridCol w="1842448"/>
                <a:gridCol w="1842448"/>
              </a:tblGrid>
              <a:tr h="411220">
                <a:tc>
                  <a:txBody>
                    <a:bodyPr/>
                    <a:lstStyle/>
                    <a:p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Estudio</a:t>
                      </a:r>
                      <a:r>
                        <a:rPr lang="es-AR" sz="2000" baseline="0" dirty="0" smtClean="0">
                          <a:latin typeface="Comic Sans MS" panose="030F0702030302020204" pitchFamily="66" charset="0"/>
                        </a:rPr>
                        <a:t> en Kansas</a:t>
                      </a:r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Estudio en Nebraska</a:t>
                      </a:r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Estudio</a:t>
                      </a:r>
                      <a:r>
                        <a:rPr lang="es-AR" sz="2000" baseline="0" dirty="0" smtClean="0">
                          <a:latin typeface="Comic Sans MS" panose="030F0702030302020204" pitchFamily="66" charset="0"/>
                        </a:rPr>
                        <a:t> en los </a:t>
                      </a:r>
                      <a:r>
                        <a:rPr lang="es-AR" sz="2000" baseline="0" dirty="0" err="1" smtClean="0">
                          <a:latin typeface="Comic Sans MS" panose="030F0702030302020204" pitchFamily="66" charset="0"/>
                        </a:rPr>
                        <a:t>Angeles</a:t>
                      </a:r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</a:tr>
              <a:tr h="709777">
                <a:tc>
                  <a:txBody>
                    <a:bodyPr/>
                    <a:lstStyle/>
                    <a:p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Distancia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5</a:t>
                      </a:r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5.2</a:t>
                      </a:r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5.5</a:t>
                      </a:r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</a:tr>
              <a:tr h="1013968">
                <a:tc>
                  <a:txBody>
                    <a:bodyPr/>
                    <a:lstStyle/>
                    <a:p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Cadenas completas</a:t>
                      </a:r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44</a:t>
                      </a:r>
                      <a:r>
                        <a:rPr lang="es-AR" sz="2000" baseline="0" dirty="0" smtClean="0">
                          <a:latin typeface="Comic Sans MS" panose="030F0702030302020204" pitchFamily="66" charset="0"/>
                        </a:rPr>
                        <a:t> de 160 (27%)</a:t>
                      </a:r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64 de 217 (29%)</a:t>
                      </a:r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>
                          <a:latin typeface="Comic Sans MS" panose="030F0702030302020204" pitchFamily="66" charset="0"/>
                        </a:rPr>
                        <a:t>123 de 540 (22%)</a:t>
                      </a:r>
                      <a:endParaRPr lang="es-AR" sz="2000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13361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2" name="TextShape 2"/>
          <p:cNvSpPr txBox="1"/>
          <p:nvPr/>
        </p:nvSpPr>
        <p:spPr>
          <a:xfrm>
            <a:off x="457200" y="144000"/>
            <a:ext cx="1918800" cy="590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endParaRPr dirty="0"/>
          </a:p>
          <a:p>
            <a:pPr>
              <a:buSzPct val="45000"/>
              <a:buFont typeface="StarSymbol"/>
              <a:buChar char=""/>
            </a:pPr>
            <a:endParaRPr lang="es-AR" sz="3200" dirty="0" smtClean="0">
              <a:solidFill>
                <a:srgbClr val="FF6600"/>
              </a:solidFill>
              <a:latin typeface="Arial"/>
            </a:endParaRPr>
          </a:p>
          <a:p>
            <a:pPr>
              <a:buSzPct val="45000"/>
            </a:pPr>
            <a:r>
              <a:rPr lang="es-AR" sz="3200" dirty="0" smtClean="0">
                <a:solidFill>
                  <a:srgbClr val="FF6600"/>
                </a:solidFill>
                <a:latin typeface="Arial"/>
              </a:rPr>
              <a:t>1998</a:t>
            </a:r>
            <a:endParaRPr dirty="0"/>
          </a:p>
          <a:p>
            <a:endParaRPr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dirty="0"/>
          </a:p>
          <a:p>
            <a:endParaRPr dirty="0"/>
          </a:p>
        </p:txBody>
      </p:sp>
      <p:sp>
        <p:nvSpPr>
          <p:cNvPr id="83" name="TextShape 3"/>
          <p:cNvSpPr txBox="1"/>
          <p:nvPr/>
        </p:nvSpPr>
        <p:spPr>
          <a:xfrm>
            <a:off x="2240919" y="448011"/>
            <a:ext cx="6192000" cy="6143857"/>
          </a:xfrm>
          <a:prstGeom prst="rect">
            <a:avLst/>
          </a:prstGeom>
        </p:spPr>
        <p:txBody>
          <a:bodyPr lIns="0" tIns="0" rIns="0" bIns="0"/>
          <a:lstStyle/>
          <a:p>
            <a:pPr algn="just">
              <a:buSzPct val="45000"/>
              <a:buFont typeface="StarSymbol"/>
              <a:buChar char=""/>
            </a:pPr>
            <a:endParaRPr sz="32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Steven </a:t>
            </a:r>
            <a:r>
              <a:rPr lang="es-AR" sz="2800" dirty="0" err="1" smtClean="0">
                <a:latin typeface="Comic Sans MS" panose="030F0702030302020204" pitchFamily="66" charset="0"/>
              </a:rPr>
              <a:t>Strogatz</a:t>
            </a:r>
            <a:r>
              <a:rPr lang="es-AR" sz="2800" dirty="0" smtClean="0">
                <a:latin typeface="Comic Sans MS" panose="030F0702030302020204" pitchFamily="66" charset="0"/>
              </a:rPr>
              <a:t> y Duncan Watts matemáticos de Estados Unidos retoman el problema.</a:t>
            </a:r>
          </a:p>
          <a:p>
            <a:pPr algn="just"/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endParaRPr sz="2800" dirty="0">
              <a:latin typeface="Comic Sans MS" panose="030F0702030302020204" pitchFamily="66" charset="0"/>
            </a:endParaRPr>
          </a:p>
          <a:p>
            <a:endParaRPr dirty="0"/>
          </a:p>
          <a:p>
            <a:r>
              <a:rPr lang="es-AR" sz="3200" dirty="0">
                <a:latin typeface="Arial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859707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2" name="TextShape 2"/>
          <p:cNvSpPr txBox="1"/>
          <p:nvPr/>
        </p:nvSpPr>
        <p:spPr>
          <a:xfrm>
            <a:off x="457200" y="144000"/>
            <a:ext cx="1918800" cy="590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endParaRPr dirty="0"/>
          </a:p>
          <a:p>
            <a:pPr>
              <a:buSzPct val="45000"/>
              <a:buFont typeface="StarSymbol"/>
              <a:buChar char=""/>
            </a:pPr>
            <a:endParaRPr lang="es-AR" sz="3200" dirty="0" smtClean="0">
              <a:solidFill>
                <a:srgbClr val="FF6600"/>
              </a:solidFill>
              <a:latin typeface="Arial"/>
            </a:endParaRPr>
          </a:p>
          <a:p>
            <a:pPr>
              <a:buSzPct val="45000"/>
            </a:pPr>
            <a:r>
              <a:rPr lang="es-AR" sz="3200" dirty="0" smtClean="0">
                <a:solidFill>
                  <a:srgbClr val="FF6600"/>
                </a:solidFill>
                <a:latin typeface="Arial"/>
              </a:rPr>
              <a:t>1998</a:t>
            </a:r>
            <a:endParaRPr dirty="0"/>
          </a:p>
          <a:p>
            <a:endParaRPr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dirty="0"/>
          </a:p>
          <a:p>
            <a:endParaRPr dirty="0"/>
          </a:p>
        </p:txBody>
      </p:sp>
      <p:sp>
        <p:nvSpPr>
          <p:cNvPr id="83" name="TextShape 3"/>
          <p:cNvSpPr txBox="1"/>
          <p:nvPr/>
        </p:nvSpPr>
        <p:spPr>
          <a:xfrm>
            <a:off x="2240919" y="448011"/>
            <a:ext cx="6192000" cy="6143857"/>
          </a:xfrm>
          <a:prstGeom prst="rect">
            <a:avLst/>
          </a:prstGeom>
        </p:spPr>
        <p:txBody>
          <a:bodyPr lIns="0" tIns="0" rIns="0" bIns="0"/>
          <a:lstStyle/>
          <a:p>
            <a:pPr algn="just">
              <a:buSzPct val="45000"/>
              <a:buFont typeface="StarSymbol"/>
              <a:buChar char=""/>
            </a:pPr>
            <a:endParaRPr sz="32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Steven </a:t>
            </a:r>
            <a:r>
              <a:rPr lang="es-AR" sz="2800" dirty="0" err="1" smtClean="0">
                <a:latin typeface="Comic Sans MS" panose="030F0702030302020204" pitchFamily="66" charset="0"/>
              </a:rPr>
              <a:t>Strogatz</a:t>
            </a:r>
            <a:r>
              <a:rPr lang="es-AR" sz="2800" dirty="0" smtClean="0">
                <a:latin typeface="Comic Sans MS" panose="030F0702030302020204" pitchFamily="66" charset="0"/>
              </a:rPr>
              <a:t> y Duncan Watts matemáticos de Estados Unidos retoman el problema.</a:t>
            </a:r>
          </a:p>
          <a:p>
            <a:pPr algn="just"/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Recrean el experimento de </a:t>
            </a:r>
            <a:r>
              <a:rPr lang="es-AR" sz="2800" dirty="0" err="1" smtClean="0">
                <a:latin typeface="Comic Sans MS" panose="030F0702030302020204" pitchFamily="66" charset="0"/>
              </a:rPr>
              <a:t>Milgram</a:t>
            </a:r>
            <a:r>
              <a:rPr lang="es-AR" sz="2800" dirty="0" smtClean="0">
                <a:latin typeface="Comic Sans MS" panose="030F0702030302020204" pitchFamily="66" charset="0"/>
              </a:rPr>
              <a:t> pero con mails. Eligieron:</a:t>
            </a: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  <a:p>
            <a:pPr marL="457200" indent="-457200" algn="just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800" dirty="0" smtClean="0">
                <a:latin typeface="Comic Sans MS" panose="030F0702030302020204" pitchFamily="66" charset="0"/>
              </a:rPr>
              <a:t>50000 </a:t>
            </a:r>
            <a:r>
              <a:rPr lang="es-AR" sz="2800" dirty="0">
                <a:latin typeface="Comic Sans MS" panose="030F0702030302020204" pitchFamily="66" charset="0"/>
              </a:rPr>
              <a:t>remitentes de 157 países</a:t>
            </a:r>
            <a:endParaRPr lang="es-AR" sz="2800" dirty="0" smtClean="0">
              <a:latin typeface="Comic Sans MS" panose="030F0702030302020204" pitchFamily="66" charset="0"/>
            </a:endParaRPr>
          </a:p>
          <a:p>
            <a:pPr marL="457200" indent="-457200" algn="just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800" dirty="0" smtClean="0">
                <a:latin typeface="Comic Sans MS" panose="030F0702030302020204" pitchFamily="66" charset="0"/>
              </a:rPr>
              <a:t>19 destinatarios</a:t>
            </a:r>
          </a:p>
          <a:p>
            <a:pPr algn="just"/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endParaRPr sz="2800" dirty="0">
              <a:latin typeface="Comic Sans MS" panose="030F0702030302020204" pitchFamily="66" charset="0"/>
            </a:endParaRPr>
          </a:p>
          <a:p>
            <a:endParaRPr dirty="0"/>
          </a:p>
          <a:p>
            <a:r>
              <a:rPr lang="es-AR" sz="3200" dirty="0">
                <a:latin typeface="Arial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867443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2" name="TextShape 2"/>
          <p:cNvSpPr txBox="1"/>
          <p:nvPr/>
        </p:nvSpPr>
        <p:spPr>
          <a:xfrm>
            <a:off x="457200" y="144000"/>
            <a:ext cx="1918800" cy="590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endParaRPr dirty="0"/>
          </a:p>
          <a:p>
            <a:pPr>
              <a:buSzPct val="45000"/>
              <a:buFont typeface="StarSymbol"/>
              <a:buChar char=""/>
            </a:pPr>
            <a:endParaRPr lang="es-AR" sz="3200" dirty="0" smtClean="0">
              <a:solidFill>
                <a:srgbClr val="FF6600"/>
              </a:solidFill>
              <a:latin typeface="Arial"/>
            </a:endParaRPr>
          </a:p>
          <a:p>
            <a:pPr>
              <a:buSzPct val="45000"/>
            </a:pPr>
            <a:r>
              <a:rPr lang="es-AR" sz="3200" dirty="0" smtClean="0">
                <a:solidFill>
                  <a:srgbClr val="FF6600"/>
                </a:solidFill>
                <a:latin typeface="Arial"/>
              </a:rPr>
              <a:t>1998</a:t>
            </a:r>
            <a:endParaRPr dirty="0"/>
          </a:p>
          <a:p>
            <a:endParaRPr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dirty="0"/>
          </a:p>
          <a:p>
            <a:endParaRPr dirty="0"/>
          </a:p>
        </p:txBody>
      </p:sp>
      <p:sp>
        <p:nvSpPr>
          <p:cNvPr id="83" name="TextShape 3"/>
          <p:cNvSpPr txBox="1"/>
          <p:nvPr/>
        </p:nvSpPr>
        <p:spPr>
          <a:xfrm>
            <a:off x="2240919" y="448011"/>
            <a:ext cx="6192000" cy="6143857"/>
          </a:xfrm>
          <a:prstGeom prst="rect">
            <a:avLst/>
          </a:prstGeom>
        </p:spPr>
        <p:txBody>
          <a:bodyPr lIns="0" tIns="0" rIns="0" bIns="0"/>
          <a:lstStyle/>
          <a:p>
            <a:pPr algn="just">
              <a:buSzPct val="45000"/>
              <a:buFont typeface="StarSymbol"/>
              <a:buChar char=""/>
            </a:pPr>
            <a:endParaRPr sz="32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Steven </a:t>
            </a:r>
            <a:r>
              <a:rPr lang="es-AR" sz="2800" dirty="0" err="1" smtClean="0">
                <a:latin typeface="Comic Sans MS" panose="030F0702030302020204" pitchFamily="66" charset="0"/>
              </a:rPr>
              <a:t>Strogatz</a:t>
            </a:r>
            <a:r>
              <a:rPr lang="es-AR" sz="2800" dirty="0" smtClean="0">
                <a:latin typeface="Comic Sans MS" panose="030F0702030302020204" pitchFamily="66" charset="0"/>
              </a:rPr>
              <a:t> y Duncan Watts matemáticos de Estados Unidos retoman el problema.</a:t>
            </a:r>
          </a:p>
          <a:p>
            <a:pPr algn="just"/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Recrean el experimento de </a:t>
            </a:r>
            <a:r>
              <a:rPr lang="es-AR" sz="2800" dirty="0" err="1" smtClean="0">
                <a:latin typeface="Comic Sans MS" panose="030F0702030302020204" pitchFamily="66" charset="0"/>
              </a:rPr>
              <a:t>Milgram</a:t>
            </a:r>
            <a:r>
              <a:rPr lang="es-AR" sz="2800" dirty="0" smtClean="0">
                <a:latin typeface="Comic Sans MS" panose="030F0702030302020204" pitchFamily="66" charset="0"/>
              </a:rPr>
              <a:t> pero con mails. Eligieron:</a:t>
            </a: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  <a:p>
            <a:pPr marL="457200" indent="-457200" algn="just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800" dirty="0" smtClean="0">
                <a:latin typeface="Comic Sans MS" panose="030F0702030302020204" pitchFamily="66" charset="0"/>
              </a:rPr>
              <a:t>50000 </a:t>
            </a:r>
            <a:r>
              <a:rPr lang="es-AR" sz="2800" dirty="0">
                <a:latin typeface="Comic Sans MS" panose="030F0702030302020204" pitchFamily="66" charset="0"/>
              </a:rPr>
              <a:t>remitentes de 157 países</a:t>
            </a:r>
          </a:p>
          <a:p>
            <a:pPr marL="457200" indent="-457200" algn="just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800" dirty="0" smtClean="0">
                <a:latin typeface="Comic Sans MS" panose="030F0702030302020204" pitchFamily="66" charset="0"/>
              </a:rPr>
              <a:t>19 destinatarios</a:t>
            </a:r>
          </a:p>
          <a:p>
            <a:pPr marL="457200" indent="-457200" algn="just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Descubren que el promedio de intermediarios había sido….</a:t>
            </a: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 </a:t>
            </a:r>
            <a:endParaRPr sz="2800" dirty="0">
              <a:latin typeface="Comic Sans MS" panose="030F0702030302020204" pitchFamily="66" charset="0"/>
            </a:endParaRPr>
          </a:p>
          <a:p>
            <a:endParaRPr dirty="0"/>
          </a:p>
          <a:p>
            <a:r>
              <a:rPr lang="es-AR" sz="3200" dirty="0">
                <a:latin typeface="Arial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64674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2" name="TextShape 2"/>
          <p:cNvSpPr txBox="1"/>
          <p:nvPr/>
        </p:nvSpPr>
        <p:spPr>
          <a:xfrm>
            <a:off x="457200" y="144000"/>
            <a:ext cx="1918800" cy="590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endParaRPr dirty="0"/>
          </a:p>
          <a:p>
            <a:pPr>
              <a:buSzPct val="45000"/>
              <a:buFont typeface="StarSymbol"/>
              <a:buChar char=""/>
            </a:pPr>
            <a:endParaRPr lang="es-AR" sz="3200" dirty="0" smtClean="0">
              <a:solidFill>
                <a:srgbClr val="FF6600"/>
              </a:solidFill>
              <a:latin typeface="Arial"/>
            </a:endParaRPr>
          </a:p>
          <a:p>
            <a:pPr>
              <a:buSzPct val="45000"/>
            </a:pPr>
            <a:r>
              <a:rPr lang="es-AR" sz="3200" dirty="0" smtClean="0">
                <a:solidFill>
                  <a:srgbClr val="FF6600"/>
                </a:solidFill>
                <a:latin typeface="Arial"/>
              </a:rPr>
              <a:t>1998</a:t>
            </a:r>
            <a:endParaRPr dirty="0"/>
          </a:p>
          <a:p>
            <a:endParaRPr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dirty="0"/>
          </a:p>
          <a:p>
            <a:endParaRPr dirty="0"/>
          </a:p>
        </p:txBody>
      </p:sp>
      <p:sp>
        <p:nvSpPr>
          <p:cNvPr id="83" name="TextShape 3"/>
          <p:cNvSpPr txBox="1"/>
          <p:nvPr/>
        </p:nvSpPr>
        <p:spPr>
          <a:xfrm>
            <a:off x="2240919" y="448011"/>
            <a:ext cx="6192000" cy="6143857"/>
          </a:xfrm>
          <a:prstGeom prst="rect">
            <a:avLst/>
          </a:prstGeom>
        </p:spPr>
        <p:txBody>
          <a:bodyPr lIns="0" tIns="0" rIns="0" bIns="0"/>
          <a:lstStyle/>
          <a:p>
            <a:pPr algn="just">
              <a:buSzPct val="45000"/>
              <a:buFont typeface="StarSymbol"/>
              <a:buChar char=""/>
            </a:pPr>
            <a:endParaRPr sz="32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Steven </a:t>
            </a:r>
            <a:r>
              <a:rPr lang="es-AR" sz="2800" dirty="0" err="1" smtClean="0">
                <a:latin typeface="Comic Sans MS" panose="030F0702030302020204" pitchFamily="66" charset="0"/>
              </a:rPr>
              <a:t>Strogatz</a:t>
            </a:r>
            <a:r>
              <a:rPr lang="es-AR" sz="2800" dirty="0" smtClean="0">
                <a:latin typeface="Comic Sans MS" panose="030F0702030302020204" pitchFamily="66" charset="0"/>
              </a:rPr>
              <a:t> y Duncan Watts matemáticos de Estados Unidos retoman el problema.</a:t>
            </a:r>
          </a:p>
          <a:p>
            <a:pPr algn="just"/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Recrean el experimento de </a:t>
            </a:r>
            <a:r>
              <a:rPr lang="es-AR" sz="2800" dirty="0" err="1" smtClean="0">
                <a:latin typeface="Comic Sans MS" panose="030F0702030302020204" pitchFamily="66" charset="0"/>
              </a:rPr>
              <a:t>Milgram</a:t>
            </a:r>
            <a:r>
              <a:rPr lang="es-AR" sz="2800" dirty="0" smtClean="0">
                <a:latin typeface="Comic Sans MS" panose="030F0702030302020204" pitchFamily="66" charset="0"/>
              </a:rPr>
              <a:t> pero con mails. Eligieron:</a:t>
            </a: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  <a:p>
            <a:pPr marL="457200" indent="-457200" algn="just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800" dirty="0" smtClean="0">
                <a:latin typeface="Comic Sans MS" panose="030F0702030302020204" pitchFamily="66" charset="0"/>
              </a:rPr>
              <a:t>50000 </a:t>
            </a:r>
            <a:r>
              <a:rPr lang="es-AR" sz="2800" dirty="0">
                <a:latin typeface="Comic Sans MS" panose="030F0702030302020204" pitchFamily="66" charset="0"/>
              </a:rPr>
              <a:t>remitentes de 157 países</a:t>
            </a:r>
            <a:endParaRPr lang="es-AR" sz="2800" dirty="0" smtClean="0">
              <a:latin typeface="Comic Sans MS" panose="030F0702030302020204" pitchFamily="66" charset="0"/>
            </a:endParaRPr>
          </a:p>
          <a:p>
            <a:pPr marL="457200" indent="-457200" algn="just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800" dirty="0" smtClean="0">
                <a:latin typeface="Comic Sans MS" panose="030F0702030302020204" pitchFamily="66" charset="0"/>
              </a:rPr>
              <a:t>19 destinatarios</a:t>
            </a:r>
          </a:p>
          <a:p>
            <a:pPr algn="just"/>
            <a:endParaRPr lang="es-AR" sz="2800" dirty="0" smtClean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Descubren que el promedio de intermediarios había sido….</a:t>
            </a: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 </a:t>
            </a:r>
            <a:r>
              <a:rPr lang="es-AR" sz="2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….Seis personas!!!</a:t>
            </a:r>
            <a:endParaRPr sz="280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just"/>
            <a:endParaRPr sz="2800" dirty="0">
              <a:latin typeface="Comic Sans MS" panose="030F0702030302020204" pitchFamily="66" charset="0"/>
            </a:endParaRPr>
          </a:p>
          <a:p>
            <a:endParaRPr dirty="0"/>
          </a:p>
          <a:p>
            <a:r>
              <a:rPr lang="es-AR" sz="3200" dirty="0">
                <a:latin typeface="Arial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536120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354841" y="274680"/>
            <a:ext cx="803853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dirty="0" err="1">
                <a:latin typeface="Comic Sans MS" panose="030F0702030302020204" pitchFamily="66" charset="0"/>
              </a:rPr>
              <a:t>Strogatz</a:t>
            </a:r>
            <a:r>
              <a:rPr lang="es-AR" sz="2800" dirty="0">
                <a:latin typeface="Comic Sans MS" panose="030F0702030302020204" pitchFamily="66" charset="0"/>
              </a:rPr>
              <a:t> y </a:t>
            </a:r>
            <a:r>
              <a:rPr lang="es-AR" sz="2800" dirty="0" smtClean="0">
                <a:latin typeface="Comic Sans MS" panose="030F0702030302020204" pitchFamily="66" charset="0"/>
              </a:rPr>
              <a:t> Watts no se conforman con el resultado empírico y deciden estudiar el problema a partir de grafos.</a:t>
            </a: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354841" y="274680"/>
            <a:ext cx="803853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dirty="0" err="1">
                <a:latin typeface="Comic Sans MS" panose="030F0702030302020204" pitchFamily="66" charset="0"/>
              </a:rPr>
              <a:t>Strogatz</a:t>
            </a:r>
            <a:r>
              <a:rPr lang="es-AR" sz="2800" dirty="0">
                <a:latin typeface="Comic Sans MS" panose="030F0702030302020204" pitchFamily="66" charset="0"/>
              </a:rPr>
              <a:t> y </a:t>
            </a:r>
            <a:r>
              <a:rPr lang="es-AR" sz="2800" dirty="0" smtClean="0">
                <a:latin typeface="Comic Sans MS" panose="030F0702030302020204" pitchFamily="66" charset="0"/>
              </a:rPr>
              <a:t> Watts no se conforman con el resultado empírico y deciden estudiar el problema a partir de grafos.</a:t>
            </a:r>
          </a:p>
          <a:p>
            <a:pPr algn="just"/>
            <a:endParaRPr lang="es-AR" sz="28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Qué es un grafo?</a:t>
            </a:r>
          </a:p>
          <a:p>
            <a:endParaRPr lang="es-AR" sz="2800" dirty="0">
              <a:latin typeface="Comic Sans MS" panose="030F0702030302020204" pitchFamily="66" charset="0"/>
            </a:endParaRPr>
          </a:p>
          <a:p>
            <a:pPr algn="just"/>
            <a:r>
              <a:rPr lang="es-AR" sz="2800" i="1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es </a:t>
            </a:r>
            <a:r>
              <a:rPr lang="es-AR" sz="2800" i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un conjunto de </a:t>
            </a:r>
            <a:r>
              <a:rPr lang="es-AR" sz="2800" i="1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objetos,  se representa </a:t>
            </a:r>
            <a:r>
              <a:rPr lang="es-AR" sz="2800" i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gráficamente como un conjunto de puntos (vértices o nodos) unidos por líneas (aristas</a:t>
            </a:r>
            <a:r>
              <a:rPr lang="es-AR" sz="2800" i="1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).</a:t>
            </a:r>
          </a:p>
          <a:p>
            <a:pPr algn="just"/>
            <a:endParaRPr lang="es-AR" sz="2800" i="1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s-AR" sz="2800" i="1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permiten </a:t>
            </a:r>
            <a:r>
              <a:rPr lang="es-AR" sz="2800" i="1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estudiar las </a:t>
            </a:r>
            <a:r>
              <a:rPr lang="es-AR" sz="2800" i="1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relaciones entre los elementos.</a:t>
            </a:r>
          </a:p>
        </p:txBody>
      </p:sp>
    </p:spTree>
    <p:extLst>
      <p:ext uri="{BB962C8B-B14F-4D97-AF65-F5344CB8AC3E}">
        <p14:creationId xmlns:p14="http://schemas.microsoft.com/office/powerpoint/2010/main" val="155820518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075" y="1242063"/>
            <a:ext cx="4637396" cy="401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9234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354841" y="274680"/>
            <a:ext cx="80385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Ejemplo de un grafo</a:t>
            </a:r>
            <a:endParaRPr lang="es-AR" sz="2800" dirty="0">
              <a:latin typeface="Comic Sans MS" panose="030F0702030302020204" pitchFamily="66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41" y="797900"/>
            <a:ext cx="8686080" cy="574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3924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354841" y="274680"/>
            <a:ext cx="8038531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dirty="0" smtClean="0">
                <a:latin typeface="Comic Sans MS" panose="030F0702030302020204" pitchFamily="66" charset="0"/>
              </a:rPr>
              <a:t>Los grafos surgen en 1736 debido al matemático Euler.</a:t>
            </a:r>
          </a:p>
          <a:p>
            <a:pPr algn="just"/>
            <a:endParaRPr lang="es-AR" sz="2800" i="1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s-AR" sz="2800" i="1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Cuando resolvió el problema de los puentes </a:t>
            </a:r>
            <a:r>
              <a:rPr lang="es-AR" sz="2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 </a:t>
            </a:r>
            <a:r>
              <a:rPr lang="es-AR" sz="2800" i="1" dirty="0" err="1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Königsberg</a:t>
            </a:r>
            <a:r>
              <a:rPr lang="es-AR" sz="2800" i="1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.</a:t>
            </a:r>
            <a:r>
              <a:rPr lang="es-AR" sz="28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s-AR" sz="28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¿</a:t>
            </a:r>
            <a:r>
              <a:rPr lang="es-AR" sz="2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es posible dar un </a:t>
            </a:r>
            <a:r>
              <a:rPr lang="es-AR" sz="28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paseo, </a:t>
            </a:r>
            <a:r>
              <a:rPr lang="es-AR" sz="2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pasando por todos los puentes, recorriendo solo una vez cada uno y regresando al mismo punto de partida</a:t>
            </a:r>
            <a:r>
              <a:rPr lang="es-AR" sz="28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?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261" y="2599249"/>
            <a:ext cx="4969563" cy="265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8782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354841" y="274680"/>
            <a:ext cx="803853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324" y="501576"/>
            <a:ext cx="4969563" cy="265475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252" y="3862800"/>
            <a:ext cx="23907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1440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354841" y="274680"/>
            <a:ext cx="803853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324" y="501576"/>
            <a:ext cx="4969563" cy="265475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252" y="3862800"/>
            <a:ext cx="2390775" cy="191452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50627" y="6005016"/>
            <a:ext cx="2625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Solución?.....</a:t>
            </a:r>
            <a:endParaRPr lang="es-AR" sz="24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4024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354841" y="274680"/>
            <a:ext cx="803853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 smtClean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endParaRPr lang="es-AR" sz="2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324" y="501576"/>
            <a:ext cx="4969563" cy="265475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252" y="3862800"/>
            <a:ext cx="2390775" cy="191452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50627" y="6005016"/>
            <a:ext cx="5786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Solución?.....la próxima!!!</a:t>
            </a:r>
            <a:endParaRPr lang="es-AR" sz="24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60207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" name="Rectángulo 2"/>
          <p:cNvSpPr/>
          <p:nvPr/>
        </p:nvSpPr>
        <p:spPr>
          <a:xfrm>
            <a:off x="900752" y="423080"/>
            <a:ext cx="65706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</a:rPr>
              <a:t>Como usaron </a:t>
            </a:r>
            <a:r>
              <a:rPr lang="es-AR" sz="2400" dirty="0" err="1" smtClean="0">
                <a:latin typeface="Comic Sans MS" panose="030F0702030302020204" pitchFamily="66" charset="0"/>
              </a:rPr>
              <a:t>Strogatz</a:t>
            </a:r>
            <a:r>
              <a:rPr lang="es-AR" sz="2400" dirty="0" smtClean="0">
                <a:latin typeface="Comic Sans MS" panose="030F0702030302020204" pitchFamily="66" charset="0"/>
              </a:rPr>
              <a:t> </a:t>
            </a:r>
            <a:r>
              <a:rPr lang="es-AR" sz="2400" dirty="0">
                <a:latin typeface="Comic Sans MS" panose="030F0702030302020204" pitchFamily="66" charset="0"/>
              </a:rPr>
              <a:t>y  Watts </a:t>
            </a:r>
            <a:r>
              <a:rPr lang="es-AR" sz="2400" dirty="0" smtClean="0">
                <a:latin typeface="Comic Sans MS" panose="030F0702030302020204" pitchFamily="66" charset="0"/>
              </a:rPr>
              <a:t> los grafos para el problema del mundo pequeño?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180714197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" name="Rectángulo 2"/>
          <p:cNvSpPr/>
          <p:nvPr/>
        </p:nvSpPr>
        <p:spPr>
          <a:xfrm>
            <a:off x="900752" y="423080"/>
            <a:ext cx="6570677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</a:rPr>
              <a:t>Como usaron </a:t>
            </a:r>
            <a:r>
              <a:rPr lang="es-AR" sz="2400" dirty="0" err="1" smtClean="0">
                <a:latin typeface="Comic Sans MS" panose="030F0702030302020204" pitchFamily="66" charset="0"/>
              </a:rPr>
              <a:t>Strogatz</a:t>
            </a:r>
            <a:r>
              <a:rPr lang="es-AR" sz="2400" dirty="0" smtClean="0">
                <a:latin typeface="Comic Sans MS" panose="030F0702030302020204" pitchFamily="66" charset="0"/>
              </a:rPr>
              <a:t> </a:t>
            </a:r>
            <a:r>
              <a:rPr lang="es-AR" sz="2400" dirty="0">
                <a:latin typeface="Comic Sans MS" panose="030F0702030302020204" pitchFamily="66" charset="0"/>
              </a:rPr>
              <a:t>y  Watts </a:t>
            </a:r>
            <a:r>
              <a:rPr lang="es-AR" sz="2400" dirty="0" smtClean="0">
                <a:latin typeface="Comic Sans MS" panose="030F0702030302020204" pitchFamily="66" charset="0"/>
              </a:rPr>
              <a:t> los grafos para el problema del mundo pequeño?</a:t>
            </a:r>
          </a:p>
          <a:p>
            <a:endParaRPr lang="es-AR" sz="2400" dirty="0">
              <a:latin typeface="Comic Sans MS" panose="030F0702030302020204" pitchFamily="66" charset="0"/>
            </a:endParaRPr>
          </a:p>
          <a:p>
            <a:pPr algn="just"/>
            <a:endParaRPr lang="es-AR" sz="2400" dirty="0" smtClean="0">
              <a:latin typeface="Comic Sans MS" panose="030F0702030302020204" pitchFamily="66" charset="0"/>
            </a:endParaRPr>
          </a:p>
          <a:p>
            <a:pPr algn="just"/>
            <a:r>
              <a:rPr lang="es-AR" sz="2400" dirty="0" smtClean="0">
                <a:latin typeface="Comic Sans MS" panose="030F0702030302020204" pitchFamily="66" charset="0"/>
              </a:rPr>
              <a:t>Pensemos </a:t>
            </a:r>
            <a:r>
              <a:rPr lang="es-AR" sz="2400" dirty="0">
                <a:latin typeface="Comic Sans MS" panose="030F0702030302020204" pitchFamily="66" charset="0"/>
              </a:rPr>
              <a:t>en una gran cantidad de personas de pie en un círculo tomados de las </a:t>
            </a:r>
            <a:r>
              <a:rPr lang="es-AR" sz="2400" dirty="0" smtClean="0">
                <a:latin typeface="Comic Sans MS" panose="030F0702030302020204" pitchFamily="66" charset="0"/>
              </a:rPr>
              <a:t>manos</a:t>
            </a:r>
          </a:p>
          <a:p>
            <a:pPr algn="just"/>
            <a:endParaRPr lang="es-AR" sz="2400" dirty="0"/>
          </a:p>
          <a:p>
            <a:pPr algn="just"/>
            <a:endParaRPr lang="es-AR" sz="2400" dirty="0" smtClean="0"/>
          </a:p>
          <a:p>
            <a:pPr algn="just"/>
            <a:endParaRPr lang="es-AR" sz="2400" dirty="0"/>
          </a:p>
          <a:p>
            <a:pPr algn="just"/>
            <a:endParaRPr lang="es-AR" sz="2400" dirty="0" smtClean="0"/>
          </a:p>
          <a:p>
            <a:pPr algn="just"/>
            <a:endParaRPr lang="es-AR" sz="2400" dirty="0"/>
          </a:p>
          <a:p>
            <a:pPr algn="just"/>
            <a:endParaRPr lang="es-AR" sz="2400" dirty="0" smtClean="0"/>
          </a:p>
          <a:p>
            <a:pPr algn="just"/>
            <a:endParaRPr lang="es-AR" sz="2400" dirty="0"/>
          </a:p>
          <a:p>
            <a:pPr algn="just"/>
            <a:endParaRPr lang="es-AR" sz="2400" dirty="0" smtClean="0"/>
          </a:p>
          <a:p>
            <a:pPr algn="just"/>
            <a:endParaRPr lang="es-AR" sz="2400" dirty="0"/>
          </a:p>
          <a:p>
            <a:pPr algn="just"/>
            <a:endParaRPr lang="es-AR" sz="2400" dirty="0" smtClean="0"/>
          </a:p>
          <a:p>
            <a:pPr algn="just"/>
            <a:r>
              <a:rPr lang="es-AR" sz="2400" dirty="0" smtClean="0">
                <a:latin typeface="Comic Sans MS" panose="030F0702030302020204" pitchFamily="66" charset="0"/>
              </a:rPr>
              <a:t>1.000.000 de personas tomadas de la mano</a:t>
            </a:r>
            <a:endParaRPr lang="es-AR" sz="2400" dirty="0">
              <a:latin typeface="Comic Sans MS" panose="030F0702030302020204" pitchFamily="66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337" y="2652340"/>
            <a:ext cx="3647506" cy="347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032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" name="Rectángulo 2"/>
          <p:cNvSpPr/>
          <p:nvPr/>
        </p:nvSpPr>
        <p:spPr>
          <a:xfrm>
            <a:off x="900752" y="423080"/>
            <a:ext cx="65706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</a:rPr>
              <a:t>Cada uno conoce a las 50 personas que tiene a la izquierda y las 50 de la derecha. Y con solo ellas se comunica!</a:t>
            </a:r>
          </a:p>
          <a:p>
            <a:endParaRPr lang="es-AR" sz="2400" dirty="0">
              <a:latin typeface="Comic Sans MS" panose="030F0702030302020204" pitchFamily="66" charset="0"/>
            </a:endParaRPr>
          </a:p>
          <a:p>
            <a:endParaRPr lang="es-AR" sz="2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871" y="1874418"/>
            <a:ext cx="3647506" cy="3473060"/>
          </a:xfrm>
          <a:prstGeom prst="rect">
            <a:avLst/>
          </a:prstGeom>
        </p:spPr>
      </p:pic>
      <p:cxnSp>
        <p:nvCxnSpPr>
          <p:cNvPr id="4" name="Conector recto de flecha 3"/>
          <p:cNvCxnSpPr/>
          <p:nvPr/>
        </p:nvCxnSpPr>
        <p:spPr>
          <a:xfrm flipV="1">
            <a:off x="1518427" y="2964431"/>
            <a:ext cx="1064525" cy="584408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1201003" y="5445457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YO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1" name="Conector recto de flecha 10"/>
          <p:cNvCxnSpPr/>
          <p:nvPr/>
        </p:nvCxnSpPr>
        <p:spPr>
          <a:xfrm flipV="1">
            <a:off x="1749188" y="4915470"/>
            <a:ext cx="1064525" cy="584408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V="1">
            <a:off x="3395019" y="5383873"/>
            <a:ext cx="1064525" cy="584408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293496" y="3505917"/>
            <a:ext cx="21643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Mi amiga número</a:t>
            </a:r>
          </a:p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de mi izquierda</a:t>
            </a:r>
          </a:p>
          <a:p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012020" y="5976496"/>
            <a:ext cx="20505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Mi amiga número</a:t>
            </a:r>
          </a:p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de mi derecha</a:t>
            </a:r>
          </a:p>
          <a:p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0683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272" y="781334"/>
            <a:ext cx="3501232" cy="3501232"/>
          </a:xfrm>
          <a:prstGeom prst="rect">
            <a:avLst/>
          </a:prstGeom>
        </p:spPr>
      </p:pic>
      <p:sp>
        <p:nvSpPr>
          <p:cNvPr id="4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Rectángulo 4"/>
          <p:cNvSpPr/>
          <p:nvPr/>
        </p:nvSpPr>
        <p:spPr>
          <a:xfrm>
            <a:off x="893927" y="4899546"/>
            <a:ext cx="72674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</a:rPr>
              <a:t>Podemos pensar en un grafo donde cada persona es un punto y cada arco se establece si esas dos personas son amigas entre sí</a:t>
            </a:r>
            <a:endParaRPr lang="es-AR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82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713" y="2271934"/>
            <a:ext cx="3009900" cy="2733675"/>
          </a:xfrm>
          <a:prstGeom prst="rect">
            <a:avLst/>
          </a:prstGeom>
        </p:spPr>
      </p:pic>
      <p:sp>
        <p:nvSpPr>
          <p:cNvPr id="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" name="Rectángulo 2"/>
          <p:cNvSpPr/>
          <p:nvPr/>
        </p:nvSpPr>
        <p:spPr>
          <a:xfrm>
            <a:off x="900752" y="423080"/>
            <a:ext cx="65706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</a:rPr>
              <a:t>Cada uno conoce a las 50 personas que tiene a la izquierda y las 50 de la derecha. Y con solo ellas se comunica!</a:t>
            </a:r>
          </a:p>
          <a:p>
            <a:endParaRPr lang="es-AR" sz="2400" dirty="0">
              <a:latin typeface="Comic Sans MS" panose="030F0702030302020204" pitchFamily="66" charset="0"/>
            </a:endParaRPr>
          </a:p>
          <a:p>
            <a:endParaRPr lang="es-AR" sz="2400" dirty="0"/>
          </a:p>
        </p:txBody>
      </p:sp>
      <p:cxnSp>
        <p:nvCxnSpPr>
          <p:cNvPr id="4" name="Conector recto de flecha 3"/>
          <p:cNvCxnSpPr/>
          <p:nvPr/>
        </p:nvCxnSpPr>
        <p:spPr>
          <a:xfrm flipV="1">
            <a:off x="1993917" y="4706647"/>
            <a:ext cx="1557255" cy="350604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2909297" y="593930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YO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1" name="Conector recto de flecha 10"/>
          <p:cNvCxnSpPr/>
          <p:nvPr/>
        </p:nvCxnSpPr>
        <p:spPr>
          <a:xfrm flipV="1">
            <a:off x="3343701" y="4910668"/>
            <a:ext cx="842389" cy="904121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H="1" flipV="1">
            <a:off x="4940490" y="4856128"/>
            <a:ext cx="788961" cy="958661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101621" y="4244982"/>
            <a:ext cx="21643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Mi amiga número</a:t>
            </a:r>
          </a:p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de mi izquierda</a:t>
            </a:r>
          </a:p>
          <a:p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4772408" y="6028348"/>
            <a:ext cx="20505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Mi amiga número</a:t>
            </a:r>
          </a:p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de mi derecha</a:t>
            </a:r>
          </a:p>
          <a:p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4" name="Conector recto de flecha 13"/>
          <p:cNvCxnSpPr/>
          <p:nvPr/>
        </p:nvCxnSpPr>
        <p:spPr>
          <a:xfrm flipH="1">
            <a:off x="4335386" y="1991437"/>
            <a:ext cx="2097615" cy="234330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6433001" y="1487103"/>
            <a:ext cx="27109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Quiero hacerle llegar </a:t>
            </a:r>
          </a:p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un mensaje a la persona</a:t>
            </a:r>
          </a:p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500000.</a:t>
            </a:r>
          </a:p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En frente mío.</a:t>
            </a:r>
          </a:p>
          <a:p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32133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¿Cómo se hace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esto?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Le digo el mensaje a mi amigo más lejano (el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número 50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a mi izquierda)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84" y="2895178"/>
            <a:ext cx="3009900" cy="2733675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H="1" flipV="1">
            <a:off x="4145148" y="5628853"/>
            <a:ext cx="3773" cy="302776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/>
          <p:cNvCxnSpPr/>
          <p:nvPr/>
        </p:nvCxnSpPr>
        <p:spPr>
          <a:xfrm>
            <a:off x="4164767" y="2521386"/>
            <a:ext cx="1" cy="373792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3886102" y="600264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YO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 flipH="1">
            <a:off x="3380637" y="2173123"/>
            <a:ext cx="221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Persona 500000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07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¿Cómo se hace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esto?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Le digo el mensaje a mi amigo más lejano (el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número 50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a mi izquierda)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84" y="2895178"/>
            <a:ext cx="3009900" cy="2733675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H="1" flipV="1">
            <a:off x="4145148" y="5628853"/>
            <a:ext cx="3773" cy="302776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/>
          <p:cNvCxnSpPr/>
          <p:nvPr/>
        </p:nvCxnSpPr>
        <p:spPr>
          <a:xfrm>
            <a:off x="4164767" y="2521386"/>
            <a:ext cx="1" cy="373792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3886102" y="600264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YO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Forma libre 13"/>
          <p:cNvSpPr/>
          <p:nvPr/>
        </p:nvSpPr>
        <p:spPr>
          <a:xfrm>
            <a:off x="3466531" y="5418161"/>
            <a:ext cx="573206" cy="454800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CuadroTexto 15"/>
          <p:cNvSpPr txBox="1"/>
          <p:nvPr/>
        </p:nvSpPr>
        <p:spPr>
          <a:xfrm flipH="1">
            <a:off x="2470245" y="5872961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 flipH="1">
            <a:off x="3380637" y="2173123"/>
            <a:ext cx="221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Persona 500000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74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84" y="2895178"/>
            <a:ext cx="3009900" cy="2733675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H="1" flipV="1">
            <a:off x="4145148" y="5628853"/>
            <a:ext cx="3773" cy="302776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/>
          <p:cNvCxnSpPr/>
          <p:nvPr/>
        </p:nvCxnSpPr>
        <p:spPr>
          <a:xfrm>
            <a:off x="4164767" y="2521386"/>
            <a:ext cx="1" cy="373792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3886102" y="600264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YO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Forma libre 13"/>
          <p:cNvSpPr/>
          <p:nvPr/>
        </p:nvSpPr>
        <p:spPr>
          <a:xfrm>
            <a:off x="3466531" y="5418161"/>
            <a:ext cx="573206" cy="454800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Rectángulo 1"/>
          <p:cNvSpPr/>
          <p:nvPr/>
        </p:nvSpPr>
        <p:spPr>
          <a:xfrm>
            <a:off x="405660" y="242665"/>
            <a:ext cx="83289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Este amigo se lo dice a su amigo más lejano (el número 50 a su izquierda)</a:t>
            </a:r>
          </a:p>
        </p:txBody>
      </p:sp>
      <p:sp>
        <p:nvSpPr>
          <p:cNvPr id="11" name="Forma libre 10"/>
          <p:cNvSpPr/>
          <p:nvPr/>
        </p:nvSpPr>
        <p:spPr>
          <a:xfrm rot="1252131">
            <a:off x="2792104" y="5027418"/>
            <a:ext cx="573206" cy="458974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/>
          <p:cNvSpPr txBox="1"/>
          <p:nvPr/>
        </p:nvSpPr>
        <p:spPr>
          <a:xfrm flipH="1">
            <a:off x="1729080" y="5356502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 flipH="1">
            <a:off x="2622645" y="6025361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 flipH="1">
            <a:off x="3244157" y="2173123"/>
            <a:ext cx="221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Persona 500000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02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556" y="2895178"/>
            <a:ext cx="3009900" cy="2733675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H="1" flipV="1">
            <a:off x="4145148" y="5628853"/>
            <a:ext cx="3773" cy="302776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/>
          <p:cNvCxnSpPr/>
          <p:nvPr/>
        </p:nvCxnSpPr>
        <p:spPr>
          <a:xfrm>
            <a:off x="4164767" y="2521386"/>
            <a:ext cx="1" cy="373792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3886102" y="600264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YO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Forma libre 13"/>
          <p:cNvSpPr/>
          <p:nvPr/>
        </p:nvSpPr>
        <p:spPr>
          <a:xfrm>
            <a:off x="3466531" y="5418161"/>
            <a:ext cx="573206" cy="454800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Rectángulo 1"/>
          <p:cNvSpPr/>
          <p:nvPr/>
        </p:nvSpPr>
        <p:spPr>
          <a:xfrm>
            <a:off x="405660" y="242665"/>
            <a:ext cx="832890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Este amigo se lo dice a su amigo más lejano (el número 50 a su izquierda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)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y así sucesivamente. 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  <p:sp>
        <p:nvSpPr>
          <p:cNvPr id="11" name="Forma libre 10"/>
          <p:cNvSpPr/>
          <p:nvPr/>
        </p:nvSpPr>
        <p:spPr>
          <a:xfrm rot="1252131">
            <a:off x="2792104" y="5027418"/>
            <a:ext cx="573206" cy="458974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Forma libre 8"/>
          <p:cNvSpPr/>
          <p:nvPr/>
        </p:nvSpPr>
        <p:spPr>
          <a:xfrm rot="2962691">
            <a:off x="2395560" y="4375106"/>
            <a:ext cx="524092" cy="487342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Forma libre 11"/>
          <p:cNvSpPr/>
          <p:nvPr/>
        </p:nvSpPr>
        <p:spPr>
          <a:xfrm rot="7210141">
            <a:off x="2730934" y="3040282"/>
            <a:ext cx="552164" cy="487342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Forma libre 12"/>
          <p:cNvSpPr/>
          <p:nvPr/>
        </p:nvSpPr>
        <p:spPr>
          <a:xfrm rot="8777541">
            <a:off x="3375857" y="2673423"/>
            <a:ext cx="669054" cy="487342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Forma libre 14"/>
          <p:cNvSpPr/>
          <p:nvPr/>
        </p:nvSpPr>
        <p:spPr>
          <a:xfrm rot="6441089">
            <a:off x="2234219" y="3572677"/>
            <a:ext cx="552164" cy="487342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CuadroTexto 15"/>
          <p:cNvSpPr txBox="1"/>
          <p:nvPr/>
        </p:nvSpPr>
        <p:spPr>
          <a:xfrm flipH="1">
            <a:off x="2470245" y="5872961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 flipH="1">
            <a:off x="1188724" y="3592683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 flipH="1">
            <a:off x="1726172" y="2902217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 flipH="1">
            <a:off x="2569214" y="2466794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 flipH="1">
            <a:off x="1726171" y="5231890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 flipH="1">
            <a:off x="3380637" y="2173123"/>
            <a:ext cx="221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Persona 500000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61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556" y="2895178"/>
            <a:ext cx="3009900" cy="2733675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H="1" flipV="1">
            <a:off x="4145148" y="5628853"/>
            <a:ext cx="3773" cy="302776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/>
          <p:cNvCxnSpPr/>
          <p:nvPr/>
        </p:nvCxnSpPr>
        <p:spPr>
          <a:xfrm>
            <a:off x="4164767" y="2521386"/>
            <a:ext cx="1" cy="373792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3886102" y="600264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YO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Forma libre 13"/>
          <p:cNvSpPr/>
          <p:nvPr/>
        </p:nvSpPr>
        <p:spPr>
          <a:xfrm>
            <a:off x="3466531" y="5418161"/>
            <a:ext cx="573206" cy="454800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Rectángulo 1"/>
          <p:cNvSpPr/>
          <p:nvPr/>
        </p:nvSpPr>
        <p:spPr>
          <a:xfrm>
            <a:off x="405660" y="242665"/>
            <a:ext cx="832890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Este amigo se lo dice a su amigo más lejano (el número 50 a su izquierda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)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y así sucesivamente. 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  <p:sp>
        <p:nvSpPr>
          <p:cNvPr id="11" name="Forma libre 10"/>
          <p:cNvSpPr/>
          <p:nvPr/>
        </p:nvSpPr>
        <p:spPr>
          <a:xfrm rot="1252131">
            <a:off x="2792104" y="5027418"/>
            <a:ext cx="573206" cy="458974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Forma libre 8"/>
          <p:cNvSpPr/>
          <p:nvPr/>
        </p:nvSpPr>
        <p:spPr>
          <a:xfrm rot="2962691">
            <a:off x="2395560" y="4375106"/>
            <a:ext cx="524092" cy="487342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Forma libre 11"/>
          <p:cNvSpPr/>
          <p:nvPr/>
        </p:nvSpPr>
        <p:spPr>
          <a:xfrm rot="7210141">
            <a:off x="2730934" y="3040282"/>
            <a:ext cx="552164" cy="487342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Forma libre 12"/>
          <p:cNvSpPr/>
          <p:nvPr/>
        </p:nvSpPr>
        <p:spPr>
          <a:xfrm rot="8777541">
            <a:off x="3444097" y="2768959"/>
            <a:ext cx="669054" cy="487342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Forma libre 14"/>
          <p:cNvSpPr/>
          <p:nvPr/>
        </p:nvSpPr>
        <p:spPr>
          <a:xfrm rot="6441089">
            <a:off x="2234219" y="3572677"/>
            <a:ext cx="552164" cy="487342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CuadroTexto 15"/>
          <p:cNvSpPr txBox="1"/>
          <p:nvPr/>
        </p:nvSpPr>
        <p:spPr>
          <a:xfrm flipH="1">
            <a:off x="2470245" y="5872961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 flipH="1">
            <a:off x="1188724" y="3592683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 flipH="1">
            <a:off x="1726172" y="2902217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 flipH="1">
            <a:off x="2596510" y="2498058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 flipH="1">
            <a:off x="1726171" y="5231890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 flipH="1">
            <a:off x="3380637" y="2173123"/>
            <a:ext cx="221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Persona 500000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 flipH="1">
            <a:off x="5728456" y="3500350"/>
            <a:ext cx="3662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10.000 veces 50 pasos</a:t>
            </a:r>
            <a:endParaRPr lang="es-AR" sz="24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89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En este </a:t>
            </a:r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ORDENADO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,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estoy a distancia 10.000 de la persona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más alejada en el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mundo.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 </a:t>
            </a:r>
            <a:r>
              <a:rPr lang="es-AR" dirty="0">
                <a:latin typeface="Georgia, 'Times New Roman', ser"/>
                <a:ea typeface="Droid Sans Fallback"/>
                <a:cs typeface="FreeSans"/>
              </a:rPr>
              <a:t/>
            </a:r>
            <a:br>
              <a:rPr lang="es-AR" dirty="0">
                <a:latin typeface="Georgia, 'Times New Roman', ser"/>
                <a:ea typeface="Droid Sans Fallback"/>
                <a:cs typeface="FreeSans"/>
              </a:rPr>
            </a:b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8214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En este </a:t>
            </a:r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ORDENADO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,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estoy a distancia 10.000 de la persona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más alejada en el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mundo.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Y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a cuanta distancia estoy de la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persona número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250.000?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 </a:t>
            </a:r>
            <a:r>
              <a:rPr lang="es-AR" dirty="0">
                <a:latin typeface="Georgia, 'Times New Roman', ser"/>
                <a:ea typeface="Droid Sans Fallback"/>
                <a:cs typeface="FreeSans"/>
              </a:rPr>
              <a:t/>
            </a:r>
            <a:br>
              <a:rPr lang="es-AR" dirty="0">
                <a:latin typeface="Georgia, 'Times New Roman', ser"/>
                <a:ea typeface="Droid Sans Fallback"/>
                <a:cs typeface="FreeSans"/>
              </a:rPr>
            </a:b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645" y="3454736"/>
            <a:ext cx="3009900" cy="2733675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H="1" flipV="1">
            <a:off x="4063263" y="6188411"/>
            <a:ext cx="3773" cy="302776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/>
          <p:cNvCxnSpPr/>
          <p:nvPr/>
        </p:nvCxnSpPr>
        <p:spPr>
          <a:xfrm>
            <a:off x="2320119" y="4653886"/>
            <a:ext cx="400259" cy="57242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3831510" y="6425727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YO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 flipH="1">
            <a:off x="505434" y="4341796"/>
            <a:ext cx="221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Persona 250000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24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En este </a:t>
            </a:r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ORDENADO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,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estoy a distancia 10.000 de la persona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más alejada en el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mundo.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Y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a cuanta distancia estoy de la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persona número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250.000?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 </a:t>
            </a:r>
            <a:r>
              <a:rPr lang="es-AR" dirty="0">
                <a:latin typeface="Georgia, 'Times New Roman', ser"/>
                <a:ea typeface="Droid Sans Fallback"/>
                <a:cs typeface="FreeSans"/>
              </a:rPr>
              <a:t/>
            </a:r>
            <a:br>
              <a:rPr lang="es-AR" dirty="0">
                <a:latin typeface="Georgia, 'Times New Roman', ser"/>
                <a:ea typeface="Droid Sans Fallback"/>
                <a:cs typeface="FreeSans"/>
              </a:rPr>
            </a:b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605" y="3476596"/>
            <a:ext cx="3009900" cy="2733675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H="1" flipV="1">
            <a:off x="4063263" y="6188411"/>
            <a:ext cx="3773" cy="302776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/>
          <p:cNvCxnSpPr/>
          <p:nvPr/>
        </p:nvCxnSpPr>
        <p:spPr>
          <a:xfrm>
            <a:off x="2320119" y="4653886"/>
            <a:ext cx="400259" cy="57242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3831510" y="6425727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YO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 flipH="1">
            <a:off x="505434" y="4341796"/>
            <a:ext cx="221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Persona 250000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3348510" y="5961011"/>
            <a:ext cx="573206" cy="454800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Forma libre 9"/>
          <p:cNvSpPr/>
          <p:nvPr/>
        </p:nvSpPr>
        <p:spPr>
          <a:xfrm rot="1252131">
            <a:off x="2680455" y="5629769"/>
            <a:ext cx="573206" cy="458974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/>
          <p:cNvSpPr txBox="1"/>
          <p:nvPr/>
        </p:nvSpPr>
        <p:spPr>
          <a:xfrm flipH="1">
            <a:off x="2478885" y="6306521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 flipH="1">
            <a:off x="1715972" y="5919012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75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En este </a:t>
            </a:r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ORDENADO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,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estoy a distancia 10.000 de la persona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más alejada en el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mundo.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Y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a cuanta distancia estoy de la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persona número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250.000?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 </a:t>
            </a:r>
            <a:r>
              <a:rPr lang="es-AR" dirty="0">
                <a:latin typeface="Georgia, 'Times New Roman', ser"/>
                <a:ea typeface="Droid Sans Fallback"/>
                <a:cs typeface="FreeSans"/>
              </a:rPr>
              <a:t/>
            </a:r>
            <a:br>
              <a:rPr lang="es-AR" dirty="0">
                <a:latin typeface="Georgia, 'Times New Roman', ser"/>
                <a:ea typeface="Droid Sans Fallback"/>
                <a:cs typeface="FreeSans"/>
              </a:rPr>
            </a:b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605" y="3476596"/>
            <a:ext cx="3009900" cy="2733675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H="1" flipV="1">
            <a:off x="4063263" y="6188411"/>
            <a:ext cx="3773" cy="302776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/>
          <p:cNvCxnSpPr/>
          <p:nvPr/>
        </p:nvCxnSpPr>
        <p:spPr>
          <a:xfrm>
            <a:off x="2320119" y="4653886"/>
            <a:ext cx="400259" cy="57242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3831510" y="6425727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YO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 flipH="1">
            <a:off x="505434" y="4341796"/>
            <a:ext cx="221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Persona 250000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3348510" y="5961011"/>
            <a:ext cx="573206" cy="454800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Forma libre 9"/>
          <p:cNvSpPr/>
          <p:nvPr/>
        </p:nvSpPr>
        <p:spPr>
          <a:xfrm rot="1252131">
            <a:off x="2680455" y="5629769"/>
            <a:ext cx="573206" cy="458974"/>
          </a:xfrm>
          <a:custGeom>
            <a:avLst/>
            <a:gdLst>
              <a:gd name="connsiteX0" fmla="*/ 573206 w 573206"/>
              <a:gd name="connsiteY0" fmla="*/ 191069 h 454800"/>
              <a:gd name="connsiteX1" fmla="*/ 122830 w 573206"/>
              <a:gd name="connsiteY1" fmla="*/ 450376 h 454800"/>
              <a:gd name="connsiteX2" fmla="*/ 0 w 573206"/>
              <a:gd name="connsiteY2" fmla="*/ 0 h 4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454800">
                <a:moveTo>
                  <a:pt x="573206" y="191069"/>
                </a:moveTo>
                <a:cubicBezTo>
                  <a:pt x="395785" y="336645"/>
                  <a:pt x="218364" y="482221"/>
                  <a:pt x="122830" y="450376"/>
                </a:cubicBezTo>
                <a:cubicBezTo>
                  <a:pt x="27296" y="418531"/>
                  <a:pt x="13648" y="209265"/>
                  <a:pt x="0" y="0"/>
                </a:cubicBezTo>
              </a:path>
            </a:pathLst>
          </a:custGeom>
          <a:noFill/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/>
          <p:cNvSpPr txBox="1"/>
          <p:nvPr/>
        </p:nvSpPr>
        <p:spPr>
          <a:xfrm flipH="1">
            <a:off x="2478885" y="6306521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 flipH="1">
            <a:off x="1715972" y="5919012"/>
            <a:ext cx="156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50 pasos</a:t>
            </a:r>
            <a:endParaRPr lang="es-AR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 flipH="1">
            <a:off x="5728456" y="3500350"/>
            <a:ext cx="3662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5.000 veces 50 pasos</a:t>
            </a:r>
            <a:endParaRPr lang="es-AR" sz="24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96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En este mundo ORDENADO,</a:t>
            </a:r>
          </a:p>
          <a:p>
            <a:endParaRPr lang="es-AR" sz="24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estoy a distancia 10.000 de la persona </a:t>
            </a:r>
            <a:r>
              <a:rPr lang="es-AR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más alejada en el </a:t>
            </a:r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mundo.</a:t>
            </a:r>
          </a:p>
          <a:p>
            <a:endParaRPr lang="es-AR" sz="24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Y </a:t>
            </a:r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a cuanta distancia estoy de la </a:t>
            </a:r>
            <a:r>
              <a:rPr lang="es-AR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persona número </a:t>
            </a:r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250.000?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Estoy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a distancia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5.000 de la persona 250.000.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 </a:t>
            </a:r>
            <a:r>
              <a:rPr lang="es-AR" dirty="0">
                <a:latin typeface="Georgia, 'Times New Roman', ser"/>
                <a:ea typeface="Droid Sans Fallback"/>
                <a:cs typeface="FreeSans"/>
              </a:rPr>
              <a:t/>
            </a:r>
            <a:br>
              <a:rPr lang="es-AR" dirty="0">
                <a:latin typeface="Georgia, 'Times New Roman', ser"/>
                <a:ea typeface="Droid Sans Fallback"/>
                <a:cs typeface="FreeSans"/>
              </a:rPr>
            </a:b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7064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En este mundo ORDENADO,</a:t>
            </a:r>
          </a:p>
          <a:p>
            <a:endParaRPr lang="es-AR" sz="24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estoy a distancia 10.000 de la persona </a:t>
            </a:r>
            <a:r>
              <a:rPr lang="es-AR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más alejada en el </a:t>
            </a:r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mundo.</a:t>
            </a:r>
          </a:p>
          <a:p>
            <a:endParaRPr lang="es-AR" sz="24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Y </a:t>
            </a:r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a cuanta distancia estoy de la </a:t>
            </a:r>
            <a:r>
              <a:rPr lang="es-AR" sz="24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persona número </a:t>
            </a:r>
            <a:r>
              <a:rPr lang="es-AR" sz="2400" dirty="0" smtClean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250.000?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Estoy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a distancia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5.000 de la persona 250.000.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A distancia 2.500 de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la persona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125.000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 </a:t>
            </a:r>
            <a:r>
              <a:rPr lang="es-AR" dirty="0">
                <a:latin typeface="Georgia, 'Times New Roman', ser"/>
                <a:ea typeface="Droid Sans Fallback"/>
                <a:cs typeface="FreeSans"/>
              </a:rPr>
              <a:t/>
            </a:r>
            <a:br>
              <a:rPr lang="es-AR" dirty="0">
                <a:latin typeface="Georgia, 'Times New Roman', ser"/>
                <a:ea typeface="Droid Sans Fallback"/>
                <a:cs typeface="FreeSans"/>
              </a:rPr>
            </a:b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7382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En este </a:t>
            </a:r>
            <a:r>
              <a:rPr lang="es-AR" sz="2400" dirty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ORDENADO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,</a:t>
            </a: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En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promedio, hay 5.000 pasos entre pares de personas en este mundo. </a:t>
            </a:r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 </a:t>
            </a:r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428415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En este </a:t>
            </a:r>
            <a:r>
              <a:rPr lang="es-AR" sz="2400" dirty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ORDENADO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,</a:t>
            </a: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En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promedio, hay 5.000 pasos entre pares de personas en este mundo. </a:t>
            </a:r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 </a:t>
            </a:r>
            <a:r>
              <a:rPr lang="es-AR" sz="2400" dirty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5.000 grados de </a:t>
            </a:r>
            <a:r>
              <a:rPr lang="es-AR" sz="2400" dirty="0" smtClean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separación!!!!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170059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En este </a:t>
            </a:r>
            <a:r>
              <a:rPr lang="es-AR" sz="2400" dirty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ORDENADO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,</a:t>
            </a: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En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promedio, hay 5.000 pasos entre pares de personas en este mundo. </a:t>
            </a:r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 </a:t>
            </a:r>
            <a:r>
              <a:rPr lang="es-AR" sz="2400" dirty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5.000 grados de </a:t>
            </a:r>
            <a:r>
              <a:rPr lang="es-AR" sz="2400" dirty="0" smtClean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separación!!!!</a:t>
            </a:r>
          </a:p>
          <a:p>
            <a:endParaRPr lang="es-AR" sz="2400" dirty="0">
              <a:solidFill>
                <a:srgbClr val="FF000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Que no se condice con lo observado</a:t>
            </a:r>
            <a:r>
              <a:rPr lang="es-AR" sz="2400" dirty="0" smtClean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!!!</a:t>
            </a:r>
          </a:p>
          <a:p>
            <a:endParaRPr lang="es-AR" sz="2400" dirty="0">
              <a:solidFill>
                <a:srgbClr val="FF000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solidFill>
                <a:srgbClr val="FF000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solidFill>
                <a:srgbClr val="FF000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404282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58815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En este</a:t>
            </a:r>
            <a:r>
              <a:rPr lang="es-AR" sz="2400" dirty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 mundo ORDENADO,</a:t>
            </a: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En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promedio, hay 5.000 pasos entre pares de personas en este mundo. </a:t>
            </a:r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 </a:t>
            </a:r>
            <a:r>
              <a:rPr lang="es-AR" sz="2400" dirty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5.000 grados de </a:t>
            </a:r>
            <a:r>
              <a:rPr lang="es-AR" sz="2400" dirty="0" smtClean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separación!!!!</a:t>
            </a:r>
          </a:p>
          <a:p>
            <a:endParaRPr lang="es-AR" sz="2400" dirty="0">
              <a:solidFill>
                <a:srgbClr val="FF000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Que no se condice con lo observado</a:t>
            </a:r>
            <a:r>
              <a:rPr lang="es-AR" sz="2400" dirty="0" smtClean="0">
                <a:solidFill>
                  <a:srgbClr val="FF000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!!!</a:t>
            </a:r>
          </a:p>
          <a:p>
            <a:endParaRPr lang="es-AR" sz="2400" dirty="0">
              <a:solidFill>
                <a:srgbClr val="FF000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Este mundo es demasiado ordenado!!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Tiene una superposición casi completa de los amigos.</a:t>
            </a:r>
          </a:p>
          <a:p>
            <a:endParaRPr lang="es-AR" sz="2400" dirty="0">
              <a:solidFill>
                <a:srgbClr val="FF000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solidFill>
                <a:srgbClr val="FF000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4100789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81067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Entonces proponen otro modelo donde lo desordenan!!!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40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27797" y="586854"/>
            <a:ext cx="786111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Entonces proponen otro modelo donde lo desordenan!!!</a:t>
            </a: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DESORDENADO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</a:rPr>
              <a:t>El </a:t>
            </a:r>
            <a:r>
              <a:rPr lang="es-AR" sz="2400" dirty="0">
                <a:latin typeface="Comic Sans MS" panose="030F0702030302020204" pitchFamily="66" charset="0"/>
              </a:rPr>
              <a:t>mismo millón de personas tomadas de la mano en el </a:t>
            </a:r>
            <a:r>
              <a:rPr lang="es-AR" sz="2400" dirty="0" smtClean="0">
                <a:latin typeface="Comic Sans MS" panose="030F0702030302020204" pitchFamily="66" charset="0"/>
              </a:rPr>
              <a:t>círculo, cada </a:t>
            </a:r>
            <a:r>
              <a:rPr lang="es-AR" sz="2400" dirty="0">
                <a:latin typeface="Comic Sans MS" panose="030F0702030302020204" pitchFamily="66" charset="0"/>
              </a:rPr>
              <a:t>uno tiene 100 </a:t>
            </a:r>
            <a:r>
              <a:rPr lang="es-AR" sz="2400" dirty="0" smtClean="0">
                <a:latin typeface="Comic Sans MS" panose="030F0702030302020204" pitchFamily="66" charset="0"/>
              </a:rPr>
              <a:t>amigos.</a:t>
            </a:r>
          </a:p>
          <a:p>
            <a:endParaRPr lang="es-AR" sz="2400" dirty="0">
              <a:latin typeface="Comic Sans MS" panose="030F0702030302020204" pitchFamily="66" charset="0"/>
            </a:endParaRPr>
          </a:p>
          <a:p>
            <a:r>
              <a:rPr lang="es-AR" sz="2400" dirty="0" smtClean="0">
                <a:latin typeface="Comic Sans MS" panose="030F0702030302020204" pitchFamily="66" charset="0"/>
              </a:rPr>
              <a:t>Pero </a:t>
            </a:r>
            <a:r>
              <a:rPr lang="es-AR" sz="2400" dirty="0">
                <a:latin typeface="Comic Sans MS" panose="030F0702030302020204" pitchFamily="66" charset="0"/>
              </a:rPr>
              <a:t>todo el mundo en el círculo elige sus 100 amigos al azar entre el millón de personas disponibles</a:t>
            </a:r>
            <a:r>
              <a:rPr lang="es-AR" sz="2400" dirty="0" smtClean="0">
                <a:latin typeface="Comic Sans MS" panose="030F0702030302020204" pitchFamily="66" charset="0"/>
              </a:rPr>
              <a:t>.</a:t>
            </a:r>
          </a:p>
          <a:p>
            <a:endParaRPr lang="es-AR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1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0" name="TextShape 2"/>
          <p:cNvSpPr txBox="1"/>
          <p:nvPr/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435" y="423081"/>
            <a:ext cx="3121449" cy="3058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0" name="TextShape 2"/>
          <p:cNvSpPr txBox="1"/>
          <p:nvPr/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435" y="423081"/>
            <a:ext cx="3121449" cy="3058392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887035" y="3727819"/>
            <a:ext cx="73692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dirty="0" smtClean="0">
                <a:latin typeface="Comic Sans MS" panose="030F0702030302020204" pitchFamily="66" charset="0"/>
              </a:rPr>
              <a:t>Watts </a:t>
            </a:r>
            <a:r>
              <a:rPr lang="es-AR" sz="2400" dirty="0">
                <a:latin typeface="Comic Sans MS" panose="030F0702030302020204" pitchFamily="66" charset="0"/>
              </a:rPr>
              <a:t>y </a:t>
            </a:r>
            <a:r>
              <a:rPr lang="es-AR" sz="2400" dirty="0" err="1">
                <a:latin typeface="Comic Sans MS" panose="030F0702030302020204" pitchFamily="66" charset="0"/>
              </a:rPr>
              <a:t>Strogatz</a:t>
            </a:r>
            <a:r>
              <a:rPr lang="es-AR" sz="2400" dirty="0">
                <a:latin typeface="Comic Sans MS" panose="030F0702030302020204" pitchFamily="66" charset="0"/>
              </a:rPr>
              <a:t> calculan </a:t>
            </a:r>
            <a:r>
              <a:rPr lang="es-AR" sz="2400" dirty="0" smtClean="0">
                <a:latin typeface="Comic Sans MS" panose="030F0702030302020204" pitchFamily="66" charset="0"/>
              </a:rPr>
              <a:t>otra vez el grado de separación (en promedio) y les da 4!!</a:t>
            </a:r>
          </a:p>
          <a:p>
            <a:pPr algn="just"/>
            <a:endParaRPr lang="es-AR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15510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0" name="TextShape 2"/>
          <p:cNvSpPr txBox="1"/>
          <p:nvPr/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435" y="423081"/>
            <a:ext cx="3121449" cy="3058392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887035" y="3727819"/>
            <a:ext cx="736921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dirty="0" smtClean="0">
                <a:latin typeface="Comic Sans MS" panose="030F0702030302020204" pitchFamily="66" charset="0"/>
              </a:rPr>
              <a:t>Watts </a:t>
            </a:r>
            <a:r>
              <a:rPr lang="es-AR" sz="2400" dirty="0">
                <a:latin typeface="Comic Sans MS" panose="030F0702030302020204" pitchFamily="66" charset="0"/>
              </a:rPr>
              <a:t>y </a:t>
            </a:r>
            <a:r>
              <a:rPr lang="es-AR" sz="2400" dirty="0" err="1">
                <a:latin typeface="Comic Sans MS" panose="030F0702030302020204" pitchFamily="66" charset="0"/>
              </a:rPr>
              <a:t>Strogatz</a:t>
            </a:r>
            <a:r>
              <a:rPr lang="es-AR" sz="2400" dirty="0">
                <a:latin typeface="Comic Sans MS" panose="030F0702030302020204" pitchFamily="66" charset="0"/>
              </a:rPr>
              <a:t> calculan </a:t>
            </a:r>
            <a:r>
              <a:rPr lang="es-AR" sz="2400" dirty="0" smtClean="0">
                <a:latin typeface="Comic Sans MS" panose="030F0702030302020204" pitchFamily="66" charset="0"/>
              </a:rPr>
              <a:t>otra vez el grado de separación (en promedio) y les da 4!!</a:t>
            </a:r>
          </a:p>
          <a:p>
            <a:pPr algn="just"/>
            <a:endParaRPr lang="es-AR" sz="2400" dirty="0">
              <a:latin typeface="Comic Sans MS" panose="030F0702030302020204" pitchFamily="66" charset="0"/>
            </a:endParaRPr>
          </a:p>
          <a:p>
            <a:pPr algn="just"/>
            <a:r>
              <a:rPr lang="es-AR" sz="2400" dirty="0" smtClean="0">
                <a:latin typeface="Comic Sans MS" panose="030F0702030302020204" pitchFamily="66" charset="0"/>
              </a:rPr>
              <a:t>En este mundo “aleatorio” se </a:t>
            </a:r>
            <a:r>
              <a:rPr lang="es-AR" sz="2400" dirty="0">
                <a:latin typeface="Comic Sans MS" panose="030F0702030302020204" pitchFamily="66" charset="0"/>
              </a:rPr>
              <a:t>supone que cada una de las 100 personas conoce a 100 personas que no se conocen entre </a:t>
            </a:r>
            <a:r>
              <a:rPr lang="es-AR" sz="2400" dirty="0" smtClean="0">
                <a:latin typeface="Comic Sans MS" panose="030F0702030302020204" pitchFamily="66" charset="0"/>
              </a:rPr>
              <a:t>sí</a:t>
            </a:r>
          </a:p>
          <a:p>
            <a:pPr algn="just"/>
            <a:endParaRPr lang="es-AR" sz="2400" dirty="0" smtClean="0">
              <a:latin typeface="Comic Sans MS" panose="030F0702030302020204" pitchFamily="66" charset="0"/>
            </a:endParaRPr>
          </a:p>
          <a:p>
            <a:pPr algn="just"/>
            <a:r>
              <a:rPr lang="es-AR" sz="2400" dirty="0" smtClean="0">
                <a:latin typeface="Comic Sans MS" panose="030F0702030302020204" pitchFamily="66" charset="0"/>
              </a:rPr>
              <a:t> </a:t>
            </a:r>
            <a:r>
              <a:rPr lang="es-AR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Pero la vida no funciona de esa </a:t>
            </a:r>
            <a:r>
              <a:rPr lang="es-AR" sz="2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forma!!</a:t>
            </a:r>
            <a:endParaRPr lang="es-AR" sz="2400" dirty="0">
              <a:solidFill>
                <a:srgbClr val="FF000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159980251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0" name="TextShape 2"/>
          <p:cNvSpPr txBox="1"/>
          <p:nvPr/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dirty="0"/>
          </a:p>
        </p:txBody>
      </p:sp>
      <p:sp>
        <p:nvSpPr>
          <p:cNvPr id="3" name="Rectángulo 2"/>
          <p:cNvSpPr/>
          <p:nvPr/>
        </p:nvSpPr>
        <p:spPr>
          <a:xfrm>
            <a:off x="887034" y="273600"/>
            <a:ext cx="779904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dirty="0" smtClean="0">
                <a:latin typeface="Comic Sans MS" panose="030F0702030302020204" pitchFamily="66" charset="0"/>
              </a:rPr>
              <a:t>Entonces proponen un modelo intermedio. Un poco ordenado y un poco desordenado!</a:t>
            </a: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r>
              <a:rPr lang="es-AR" sz="2400" dirty="0" smtClean="0">
                <a:latin typeface="Liberation Serif"/>
                <a:ea typeface="Droid Sans Fallback"/>
                <a:cs typeface="FreeSans"/>
              </a:rPr>
              <a:t>.</a:t>
            </a:r>
            <a:endParaRPr lang="es-AR" sz="2400" dirty="0"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440" y="2016028"/>
            <a:ext cx="2961562" cy="298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1598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0" name="TextShape 2"/>
          <p:cNvSpPr txBox="1"/>
          <p:nvPr/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dirty="0"/>
          </a:p>
        </p:txBody>
      </p:sp>
      <p:sp>
        <p:nvSpPr>
          <p:cNvPr id="3" name="Rectángulo 2"/>
          <p:cNvSpPr/>
          <p:nvPr/>
        </p:nvSpPr>
        <p:spPr>
          <a:xfrm>
            <a:off x="887034" y="273600"/>
            <a:ext cx="779904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Empezaron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con el mundo ordenado  y sacaron una persona de las 50 y la ubicaron en otro lugar cualquiera. </a:t>
            </a: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033422" y="225243"/>
            <a:ext cx="7332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un POCO DESORDENADO</a:t>
            </a:r>
            <a:endParaRPr lang="es-AR" sz="2400" dirty="0">
              <a:solidFill>
                <a:srgbClr val="7030A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87169627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0" name="TextShape 2"/>
          <p:cNvSpPr txBox="1"/>
          <p:nvPr/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dirty="0"/>
          </a:p>
        </p:txBody>
      </p:sp>
      <p:sp>
        <p:nvSpPr>
          <p:cNvPr id="3" name="Rectángulo 2"/>
          <p:cNvSpPr/>
          <p:nvPr/>
        </p:nvSpPr>
        <p:spPr>
          <a:xfrm>
            <a:off x="887034" y="273600"/>
            <a:ext cx="779904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Empezaron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con el mundo ordenado  y sacaron una persona de las 50 y la ubicaron en otro lugar cualquiera. </a:t>
            </a: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Seguimos teniendo 50 amigos a su derecha pero  49 a la izquierda y uno en otro lado, por ejemplo conocemos  al número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300.000.</a:t>
            </a:r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033422" y="225243"/>
            <a:ext cx="7332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un POCO DESORDENADO</a:t>
            </a:r>
            <a:endParaRPr lang="es-AR" sz="2400" dirty="0">
              <a:solidFill>
                <a:srgbClr val="7030A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199343585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0" name="TextShape 2"/>
          <p:cNvSpPr txBox="1"/>
          <p:nvPr/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dirty="0"/>
          </a:p>
        </p:txBody>
      </p:sp>
      <p:sp>
        <p:nvSpPr>
          <p:cNvPr id="3" name="Rectángulo 2"/>
          <p:cNvSpPr/>
          <p:nvPr/>
        </p:nvSpPr>
        <p:spPr>
          <a:xfrm>
            <a:off x="887034" y="273600"/>
            <a:ext cx="779904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Empezaron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con el mundo ordenado  y sacaron una persona de las 50 y la ubicaron en otro lugar cualquiera. </a:t>
            </a: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Seguimos teniendo 50 amigos a su derecha pero  49 a la izquierda y uno en otro lado, por ejemplo conocemos  al número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300.000.</a:t>
            </a:r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Liberation Serif"/>
                <a:ea typeface="Droid Sans Fallback"/>
                <a:cs typeface="FreeSans"/>
              </a:rPr>
              <a:t/>
            </a:r>
            <a:br>
              <a:rPr lang="es-AR" sz="2400" dirty="0">
                <a:latin typeface="Liberation Serif"/>
                <a:ea typeface="Droid Sans Fallback"/>
                <a:cs typeface="FreeSans"/>
              </a:rPr>
            </a:b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Antes de esa modificación (en el mundo ordenado) estábamos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a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6000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grados de separación de esa persona. 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033422" y="225243"/>
            <a:ext cx="7332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un POCO DESORDENADO</a:t>
            </a:r>
            <a:endParaRPr lang="es-AR" sz="2400" dirty="0">
              <a:solidFill>
                <a:srgbClr val="7030A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65123084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0" name="TextShape 2"/>
          <p:cNvSpPr txBox="1"/>
          <p:nvPr/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dirty="0"/>
          </a:p>
        </p:txBody>
      </p:sp>
      <p:sp>
        <p:nvSpPr>
          <p:cNvPr id="3" name="Rectángulo 2"/>
          <p:cNvSpPr/>
          <p:nvPr/>
        </p:nvSpPr>
        <p:spPr>
          <a:xfrm>
            <a:off x="887034" y="273600"/>
            <a:ext cx="7799045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Empezaron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con el mundo ordenado  y sacaron una persona de las 50 y la ubicaron en otro lugar cualquiera. </a:t>
            </a:r>
          </a:p>
          <a:p>
            <a:pPr algn="just"/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pPr algn="just"/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Seguimos teniendo 50 amigos a su derecha pero  49 a la izquierda y uno en otro lado, por ejemplo conocemos  al número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300.000.</a:t>
            </a:r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Liberation Serif"/>
                <a:ea typeface="Droid Sans Fallback"/>
                <a:cs typeface="FreeSans"/>
              </a:rPr>
              <a:t/>
            </a:r>
            <a:br>
              <a:rPr lang="es-AR" sz="2400" dirty="0">
                <a:latin typeface="Liberation Serif"/>
                <a:ea typeface="Droid Sans Fallback"/>
                <a:cs typeface="FreeSans"/>
              </a:rPr>
            </a:b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Antes de esa modificación (en el mundo ordenado) estábamos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a 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6000 </a:t>
            </a:r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grados de separación de esa persona. </a:t>
            </a:r>
          </a:p>
          <a:p>
            <a:endParaRPr lang="es-AR" sz="2400" dirty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>
                <a:latin typeface="Comic Sans MS" panose="030F0702030302020204" pitchFamily="66" charset="0"/>
                <a:ea typeface="Droid Sans Fallback"/>
                <a:cs typeface="FreeSans"/>
              </a:rPr>
              <a:t>Ahora a 1 grado de separación y mis amigos ahora están a 2 grados de separación de esa nueva persona.</a:t>
            </a:r>
          </a:p>
          <a:p>
            <a:pPr algn="just"/>
            <a:endParaRPr lang="es-AR" sz="2400" dirty="0"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033422" y="225243"/>
            <a:ext cx="7332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un POCO DESORDENADO</a:t>
            </a:r>
            <a:endParaRPr lang="es-AR" sz="2400" dirty="0">
              <a:solidFill>
                <a:srgbClr val="7030A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303962070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0" name="TextShape 2"/>
          <p:cNvSpPr txBox="1"/>
          <p:nvPr/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dirty="0"/>
          </a:p>
        </p:txBody>
      </p:sp>
      <p:sp>
        <p:nvSpPr>
          <p:cNvPr id="5" name="Rectángulo 4"/>
          <p:cNvSpPr/>
          <p:nvPr/>
        </p:nvSpPr>
        <p:spPr>
          <a:xfrm>
            <a:off x="238476" y="600501"/>
            <a:ext cx="86663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Watts y </a:t>
            </a:r>
            <a:r>
              <a:rPr lang="es-AR" sz="2400" dirty="0" err="1" smtClean="0">
                <a:latin typeface="Comic Sans MS" panose="030F0702030302020204" pitchFamily="66" charset="0"/>
                <a:ea typeface="Droid Sans Fallback"/>
                <a:cs typeface="FreeSans"/>
              </a:rPr>
              <a:t>Strogatz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 mostraron que modificando  el 1% del total se logra bajar de  5000 grados de separación a sólo cuatro.</a:t>
            </a:r>
          </a:p>
          <a:p>
            <a:endParaRPr lang="es-AR" sz="2400" dirty="0">
              <a:latin typeface="Comic Sans MS" panose="030F0702030302020204" pitchFamily="66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238475" y="376794"/>
            <a:ext cx="6762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un POCO DESORDENADO</a:t>
            </a:r>
            <a:endParaRPr lang="es-AR" sz="2400" dirty="0">
              <a:solidFill>
                <a:srgbClr val="7030A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171230065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0" name="TextShape 2"/>
          <p:cNvSpPr txBox="1"/>
          <p:nvPr/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dirty="0"/>
          </a:p>
        </p:txBody>
      </p:sp>
      <p:sp>
        <p:nvSpPr>
          <p:cNvPr id="5" name="Rectángulo 4"/>
          <p:cNvSpPr/>
          <p:nvPr/>
        </p:nvSpPr>
        <p:spPr>
          <a:xfrm>
            <a:off x="238476" y="600501"/>
            <a:ext cx="86663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Watts y </a:t>
            </a:r>
            <a:r>
              <a:rPr lang="es-AR" sz="2400" dirty="0" err="1" smtClean="0">
                <a:latin typeface="Comic Sans MS" panose="030F0702030302020204" pitchFamily="66" charset="0"/>
                <a:ea typeface="Droid Sans Fallback"/>
                <a:cs typeface="FreeSans"/>
              </a:rPr>
              <a:t>Strogatz</a:t>
            </a:r>
            <a:r>
              <a:rPr lang="es-AR" sz="2400" dirty="0" smtClean="0">
                <a:latin typeface="Comic Sans MS" panose="030F0702030302020204" pitchFamily="66" charset="0"/>
                <a:ea typeface="Droid Sans Fallback"/>
                <a:cs typeface="FreeSans"/>
              </a:rPr>
              <a:t> mostraron que modificando  el 1% del total se logra bajar de  5000 grados de separación a sólo cuatro.</a:t>
            </a: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 smtClean="0">
              <a:latin typeface="Comic Sans MS" panose="030F0702030302020204" pitchFamily="66" charset="0"/>
            </a:endParaRPr>
          </a:p>
          <a:p>
            <a:pPr algn="ctr"/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LOGRARON UN MODELO MATEMATICO</a:t>
            </a:r>
          </a:p>
          <a:p>
            <a:endParaRPr lang="es-AR" sz="2400" dirty="0">
              <a:latin typeface="Comic Sans MS" panose="030F0702030302020204" pitchFamily="66" charset="0"/>
            </a:endParaRPr>
          </a:p>
          <a:p>
            <a:r>
              <a:rPr lang="es-AR" sz="2400" dirty="0" smtClean="0">
                <a:latin typeface="Comic Sans MS" panose="030F0702030302020204" pitchFamily="66" charset="0"/>
              </a:rPr>
              <a:t>Con </a:t>
            </a:r>
            <a:r>
              <a:rPr lang="es-AR" sz="2400" dirty="0">
                <a:latin typeface="Comic Sans MS" panose="030F0702030302020204" pitchFamily="66" charset="0"/>
              </a:rPr>
              <a:t>solo unos pocos amigos al azar todo el mundo se vuelve casi tan pequeño como el mundo que era completamente al azar!!!</a:t>
            </a:r>
          </a:p>
          <a:p>
            <a:endParaRPr lang="es-AR" sz="2400" dirty="0" smtClean="0">
              <a:latin typeface="Comic Sans MS" panose="030F0702030302020204" pitchFamily="66" charset="0"/>
              <a:ea typeface="Droid Sans Fallback"/>
              <a:cs typeface="FreeSans"/>
            </a:endParaRPr>
          </a:p>
          <a:p>
            <a:endParaRPr lang="es-AR" sz="2400" dirty="0">
              <a:latin typeface="Comic Sans MS" panose="030F0702030302020204" pitchFamily="66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238475" y="376794"/>
            <a:ext cx="6762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 smtClean="0">
                <a:solidFill>
                  <a:srgbClr val="7030A0"/>
                </a:solidFill>
                <a:latin typeface="Comic Sans MS" panose="030F0702030302020204" pitchFamily="66" charset="0"/>
                <a:ea typeface="Droid Sans Fallback"/>
                <a:cs typeface="FreeSans"/>
              </a:rPr>
              <a:t>Mundo un POCO DESORDENADO</a:t>
            </a:r>
            <a:endParaRPr lang="es-AR" sz="2400" dirty="0">
              <a:solidFill>
                <a:srgbClr val="7030A0"/>
              </a:solidFill>
              <a:latin typeface="Comic Sans MS" panose="030F0702030302020204" pitchFamily="66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318210540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>
                <a:solidFill>
                  <a:srgbClr val="FF6600"/>
                </a:solidFill>
                <a:latin typeface="Comic Sans MS" panose="030F0702030302020204" pitchFamily="66" charset="0"/>
              </a:rPr>
              <a:t>Aplicaciones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" name="CuadroTexto 1"/>
          <p:cNvSpPr txBox="1"/>
          <p:nvPr/>
        </p:nvSpPr>
        <p:spPr>
          <a:xfrm>
            <a:off x="1009934" y="1225689"/>
            <a:ext cx="681023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C000"/>
              </a:buClr>
            </a:pPr>
            <a:r>
              <a:rPr lang="es-AR" sz="2000" dirty="0" smtClean="0">
                <a:latin typeface="Comic Sans MS" panose="030F0702030302020204" pitchFamily="66" charset="0"/>
              </a:rPr>
              <a:t>El análisis de redes se está aplicando en diferentes contextos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s-AR" sz="2000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>
                <a:latin typeface="Comic Sans MS" panose="030F0702030302020204" pitchFamily="66" charset="0"/>
              </a:rPr>
              <a:t>E</a:t>
            </a:r>
            <a:r>
              <a:rPr lang="es-AR" sz="2000" dirty="0" smtClean="0">
                <a:latin typeface="Comic Sans MS" panose="030F0702030302020204" pitchFamily="66" charset="0"/>
              </a:rPr>
              <a:t>structura celular (</a:t>
            </a:r>
            <a:r>
              <a:rPr lang="es-AR" sz="2000" dirty="0" err="1" smtClean="0">
                <a:latin typeface="Comic Sans MS" panose="030F0702030302020204" pitchFamily="66" charset="0"/>
              </a:rPr>
              <a:t>Szeto</a:t>
            </a:r>
            <a:r>
              <a:rPr lang="es-AR" sz="2000" dirty="0">
                <a:latin typeface="Comic Sans MS" panose="030F0702030302020204" pitchFamily="66" charset="0"/>
              </a:rPr>
              <a:t>, Fu y </a:t>
            </a:r>
            <a:r>
              <a:rPr lang="es-AR" sz="2000" dirty="0" err="1">
                <a:latin typeface="Comic Sans MS" panose="030F0702030302020204" pitchFamily="66" charset="0"/>
              </a:rPr>
              <a:t>Tam</a:t>
            </a:r>
            <a:r>
              <a:rPr lang="es-AR" sz="2000" dirty="0">
                <a:latin typeface="Comic Sans MS" panose="030F0702030302020204" pitchFamily="66" charset="0"/>
              </a:rPr>
              <a:t>, </a:t>
            </a:r>
            <a:r>
              <a:rPr lang="es-AR" sz="2000" dirty="0" smtClean="0">
                <a:latin typeface="Comic Sans MS" panose="030F0702030302020204" pitchFamily="66" charset="0"/>
              </a:rPr>
              <a:t>2002)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s-AR" sz="2000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Patrones lingüísticos </a:t>
            </a:r>
            <a:r>
              <a:rPr lang="es-AR" sz="2000" dirty="0">
                <a:latin typeface="Comic Sans MS" panose="030F0702030302020204" pitchFamily="66" charset="0"/>
              </a:rPr>
              <a:t>(Ferrer i Cancho &amp; Solé</a:t>
            </a:r>
            <a:r>
              <a:rPr lang="es-AR" sz="2000" dirty="0" smtClean="0">
                <a:latin typeface="Comic Sans MS" panose="030F0702030302020204" pitchFamily="66" charset="0"/>
              </a:rPr>
              <a:t>, 2001)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s-AR" sz="2000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Redes metabólicas </a:t>
            </a:r>
            <a:r>
              <a:rPr lang="es-AR" sz="2000" dirty="0">
                <a:latin typeface="Comic Sans MS" panose="030F0702030302020204" pitchFamily="66" charset="0"/>
              </a:rPr>
              <a:t>(</a:t>
            </a:r>
            <a:r>
              <a:rPr lang="es-AR" sz="2000" dirty="0" err="1">
                <a:latin typeface="Comic Sans MS" panose="030F0702030302020204" pitchFamily="66" charset="0"/>
              </a:rPr>
              <a:t>Jeong</a:t>
            </a:r>
            <a:r>
              <a:rPr lang="es-AR" sz="2000" dirty="0">
                <a:latin typeface="Comic Sans MS" panose="030F0702030302020204" pitchFamily="66" charset="0"/>
              </a:rPr>
              <a:t> et al</a:t>
            </a:r>
            <a:r>
              <a:rPr lang="es-AR" sz="2000" dirty="0" smtClean="0">
                <a:latin typeface="Comic Sans MS" panose="030F0702030302020204" pitchFamily="66" charset="0"/>
              </a:rPr>
              <a:t>., 2000</a:t>
            </a:r>
            <a:r>
              <a:rPr lang="es-AR" sz="2000" dirty="0">
                <a:latin typeface="Comic Sans MS" panose="030F0702030302020204" pitchFamily="66" charset="0"/>
              </a:rPr>
              <a:t>)</a:t>
            </a:r>
            <a:endParaRPr lang="es-AR" sz="2000" dirty="0" smtClean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s-AR" sz="2000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Red eléctrica de los </a:t>
            </a:r>
            <a:r>
              <a:rPr lang="es-AR" sz="2000" dirty="0">
                <a:latin typeface="Comic Sans MS" panose="030F0702030302020204" pitchFamily="66" charset="0"/>
              </a:rPr>
              <a:t>E</a:t>
            </a:r>
            <a:r>
              <a:rPr lang="es-AR" sz="2000" dirty="0" smtClean="0">
                <a:latin typeface="Comic Sans MS" panose="030F0702030302020204" pitchFamily="66" charset="0"/>
              </a:rPr>
              <a:t>stados Unidos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s-AR" sz="2000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Transmisión de enfermedades contagiosas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s-AR" sz="2000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Como se esparcen los rumores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s-AR" sz="2000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Como funcionan los buscadores de internet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s-AR" sz="2000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sz="2000" dirty="0" smtClean="0">
                <a:latin typeface="Comic Sans MS" panose="030F0702030302020204" pitchFamily="66" charset="0"/>
              </a:rPr>
              <a:t>Etc…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>
                <a:solidFill>
                  <a:srgbClr val="FF6600"/>
                </a:solidFill>
                <a:latin typeface="Comic Sans MS" panose="030F0702030302020204" pitchFamily="66" charset="0"/>
              </a:rPr>
              <a:t>Nuevos </a:t>
            </a:r>
            <a:r>
              <a:rPr lang="es-AR" sz="4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aportes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>
                <a:solidFill>
                  <a:srgbClr val="FF6600"/>
                </a:solidFill>
                <a:latin typeface="Comic Sans MS" panose="030F0702030302020204" pitchFamily="66" charset="0"/>
              </a:rPr>
              <a:t>Nuevos </a:t>
            </a:r>
            <a:r>
              <a:rPr lang="es-AR" sz="4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aportes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80" y="1416960"/>
            <a:ext cx="8910438" cy="501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6817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491" y="1201003"/>
            <a:ext cx="4364298" cy="3375057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586854" y="5568287"/>
            <a:ext cx="816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</a:rPr>
              <a:t>En 2011 Facebook tenía 721 millones de usuarios activos</a:t>
            </a:r>
            <a:endParaRPr lang="es-AR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56774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487616"/>
              </p:ext>
            </p:extLst>
          </p:nvPr>
        </p:nvGraphicFramePr>
        <p:xfrm>
          <a:off x="1373725" y="1416960"/>
          <a:ext cx="6250676" cy="332813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125338"/>
                <a:gridCol w="3125338"/>
              </a:tblGrid>
              <a:tr h="402051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Grados</a:t>
                      </a:r>
                      <a:r>
                        <a:rPr lang="es-AR" baseline="0" dirty="0" smtClean="0"/>
                        <a:t> de Separación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 % de pares</a:t>
                      </a:r>
                      <a:endParaRPr lang="es-AR" dirty="0"/>
                    </a:p>
                  </a:txBody>
                  <a:tcPr/>
                </a:tc>
              </a:tr>
              <a:tr h="296929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0.00003%</a:t>
                      </a:r>
                      <a:endParaRPr lang="es-AR" dirty="0"/>
                    </a:p>
                  </a:txBody>
                  <a:tcPr/>
                </a:tc>
              </a:tr>
              <a:tr h="296929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0.08%</a:t>
                      </a:r>
                      <a:endParaRPr lang="es-AR" dirty="0"/>
                    </a:p>
                  </a:txBody>
                  <a:tcPr/>
                </a:tc>
              </a:tr>
              <a:tr h="296929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3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1.2%</a:t>
                      </a:r>
                      <a:endParaRPr lang="es-AR" dirty="0"/>
                    </a:p>
                  </a:txBody>
                  <a:tcPr/>
                </a:tc>
              </a:tr>
              <a:tr h="296929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4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32%</a:t>
                      </a:r>
                      <a:endParaRPr lang="es-AR" dirty="0"/>
                    </a:p>
                  </a:txBody>
                  <a:tcPr/>
                </a:tc>
              </a:tr>
              <a:tr h="296929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5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58%</a:t>
                      </a:r>
                      <a:endParaRPr lang="es-AR" dirty="0"/>
                    </a:p>
                  </a:txBody>
                  <a:tcPr/>
                </a:tc>
              </a:tr>
              <a:tr h="296929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6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8.2%</a:t>
                      </a:r>
                      <a:endParaRPr lang="es-AR" dirty="0"/>
                    </a:p>
                  </a:txBody>
                  <a:tcPr/>
                </a:tc>
              </a:tr>
              <a:tr h="296929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7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0.3%</a:t>
                      </a:r>
                      <a:endParaRPr lang="es-AR" dirty="0"/>
                    </a:p>
                  </a:txBody>
                  <a:tcPr/>
                </a:tc>
              </a:tr>
              <a:tr h="296929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8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0.02%</a:t>
                      </a:r>
                      <a:endParaRPr lang="es-A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26250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" y="274680"/>
            <a:ext cx="9144000" cy="5140990"/>
          </a:xfrm>
          <a:prstGeom prst="rect">
            <a:avLst/>
          </a:prstGeom>
        </p:spPr>
      </p:pic>
      <p:sp>
        <p:nvSpPr>
          <p:cNvPr id="104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7" name="CuadroTexto 6"/>
          <p:cNvSpPr txBox="1"/>
          <p:nvPr/>
        </p:nvSpPr>
        <p:spPr>
          <a:xfrm>
            <a:off x="266132" y="5906766"/>
            <a:ext cx="853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</a:rPr>
              <a:t>En 2016 Facebook tenía 1590 millones de usuarios activos</a:t>
            </a:r>
            <a:endParaRPr lang="es-AR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32173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" y="274680"/>
            <a:ext cx="9144000" cy="5140990"/>
          </a:xfrm>
          <a:prstGeom prst="rect">
            <a:avLst/>
          </a:prstGeom>
        </p:spPr>
      </p:pic>
      <p:sp>
        <p:nvSpPr>
          <p:cNvPr id="104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" name="Elipse 2"/>
          <p:cNvSpPr/>
          <p:nvPr/>
        </p:nvSpPr>
        <p:spPr>
          <a:xfrm>
            <a:off x="266132" y="1831033"/>
            <a:ext cx="1125940" cy="54591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5" name="Conector recto de flecha 4"/>
          <p:cNvCxnSpPr/>
          <p:nvPr/>
        </p:nvCxnSpPr>
        <p:spPr>
          <a:xfrm flipH="1">
            <a:off x="1392072" y="1665335"/>
            <a:ext cx="1044000" cy="324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266132" y="5906766"/>
            <a:ext cx="853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 smtClean="0">
                <a:latin typeface="Comic Sans MS" panose="030F0702030302020204" pitchFamily="66" charset="0"/>
              </a:rPr>
              <a:t>En 2016 Facebook tenía 1590 millones de usuarios activos</a:t>
            </a:r>
            <a:endParaRPr lang="es-AR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01776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Referencias y material adicional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4" name="Rectángulo 3"/>
          <p:cNvSpPr/>
          <p:nvPr/>
        </p:nvSpPr>
        <p:spPr>
          <a:xfrm>
            <a:off x="661917" y="1600199"/>
            <a:ext cx="764957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 </a:t>
            </a:r>
            <a:r>
              <a:rPr lang="en-US" dirty="0" err="1">
                <a:latin typeface="Comic Sans MS" panose="030F0702030302020204" pitchFamily="66" charset="0"/>
              </a:rPr>
              <a:t>Artículo</a:t>
            </a:r>
            <a:r>
              <a:rPr lang="en-US" dirty="0">
                <a:latin typeface="Comic Sans MS" panose="030F0702030302020204" pitchFamily="66" charset="0"/>
              </a:rPr>
              <a:t> de Polly Shulman en la </a:t>
            </a:r>
            <a:r>
              <a:rPr lang="en-US" dirty="0" err="1">
                <a:latin typeface="Comic Sans MS" panose="030F0702030302020204" pitchFamily="66" charset="0"/>
              </a:rPr>
              <a:t>revista</a:t>
            </a:r>
            <a:r>
              <a:rPr lang="en-US" dirty="0">
                <a:latin typeface="Comic Sans MS" panose="030F0702030302020204" pitchFamily="66" charset="0"/>
              </a:rPr>
              <a:t> Discover. </a:t>
            </a:r>
            <a:r>
              <a:rPr lang="en-US" dirty="0">
                <a:latin typeface="Comic Sans MS" panose="030F0702030302020204" pitchFamily="66" charset="0"/>
                <a:hlinkClick r:id="rId2"/>
              </a:rPr>
              <a:t>"From Muhammad Ali to Grandma Rose"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s-AR" dirty="0" smtClean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Artículo de </a:t>
            </a:r>
            <a:r>
              <a:rPr lang="es-AR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Adrian</a:t>
            </a:r>
            <a:r>
              <a:rPr lang="es-AR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es-AR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Paenza</a:t>
            </a:r>
            <a:r>
              <a:rPr lang="es-AR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en Página 12 </a:t>
            </a:r>
            <a:r>
              <a:rPr lang="es-AR" u="sng" dirty="0">
                <a:latin typeface="Comic Sans MS" panose="030F0702030302020204" pitchFamily="66" charset="0"/>
                <a:hlinkClick r:id="rId3"/>
              </a:rPr>
              <a:t>https://</a:t>
            </a:r>
            <a:r>
              <a:rPr lang="es-AR" u="sng" dirty="0" smtClean="0">
                <a:latin typeface="Comic Sans MS" panose="030F0702030302020204" pitchFamily="66" charset="0"/>
                <a:hlinkClick r:id="rId3"/>
              </a:rPr>
              <a:t>www.pagina12.com.ar/diario/contratapa/13-97003-2008-01-04.html</a:t>
            </a:r>
            <a:endParaRPr lang="es-AR" u="sng" dirty="0" smtClean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n-US" u="sng" dirty="0" smtClean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 Milgram, Stanley </a:t>
            </a:r>
            <a:r>
              <a:rPr lang="en-US" dirty="0" smtClean="0">
                <a:latin typeface="Comic Sans MS" panose="030F0702030302020204" pitchFamily="66" charset="0"/>
              </a:rPr>
              <a:t>(1967</a:t>
            </a:r>
            <a:r>
              <a:rPr lang="en-US" dirty="0">
                <a:latin typeface="Comic Sans MS" panose="030F0702030302020204" pitchFamily="66" charset="0"/>
              </a:rPr>
              <a:t>). "The Small World Problem". Psychology Today. Ziff-Davis Publishing Company</a:t>
            </a:r>
            <a:r>
              <a:rPr lang="en-US" dirty="0" smtClean="0">
                <a:latin typeface="Comic Sans MS" panose="030F0702030302020204" pitchFamily="66" charset="0"/>
              </a:rPr>
              <a:t>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 </a:t>
            </a:r>
            <a:r>
              <a:rPr lang="en-US" dirty="0">
                <a:latin typeface="Comic Sans MS" panose="030F0702030302020204" pitchFamily="66" charset="0"/>
                <a:hlinkClick r:id="rId4" tooltip="Duncan J. Watts"/>
              </a:rPr>
              <a:t>Watts, D. J.</a:t>
            </a:r>
            <a:r>
              <a:rPr lang="en-US" dirty="0">
                <a:latin typeface="Comic Sans MS" panose="030F0702030302020204" pitchFamily="66" charset="0"/>
              </a:rPr>
              <a:t>; </a:t>
            </a:r>
            <a:r>
              <a:rPr lang="en-US" dirty="0" err="1">
                <a:latin typeface="Comic Sans MS" panose="030F0702030302020204" pitchFamily="66" charset="0"/>
              </a:rPr>
              <a:t>Strogatz</a:t>
            </a:r>
            <a:r>
              <a:rPr lang="en-US" dirty="0">
                <a:latin typeface="Comic Sans MS" panose="030F0702030302020204" pitchFamily="66" charset="0"/>
              </a:rPr>
              <a:t>, S. H. (1998). </a:t>
            </a:r>
            <a:r>
              <a:rPr lang="en-US" dirty="0">
                <a:latin typeface="Comic Sans MS" panose="030F0702030302020204" pitchFamily="66" charset="0"/>
                <a:hlinkClick r:id="rId5"/>
              </a:rPr>
              <a:t>"Collective dynamics of 'small-world' networks"</a:t>
            </a:r>
            <a:r>
              <a:rPr lang="en-US" dirty="0">
                <a:latin typeface="Comic Sans MS" panose="030F0702030302020204" pitchFamily="66" charset="0"/>
              </a:rPr>
              <a:t> </a:t>
            </a:r>
            <a:r>
              <a:rPr lang="en-US" dirty="0" smtClean="0">
                <a:latin typeface="Comic Sans MS" panose="030F0702030302020204" pitchFamily="66" charset="0"/>
              </a:rPr>
              <a:t>.</a:t>
            </a:r>
            <a:r>
              <a:rPr lang="en-US" dirty="0">
                <a:latin typeface="Comic Sans MS" panose="030F0702030302020204" pitchFamily="66" charset="0"/>
              </a:rPr>
              <a:t> Nature. </a:t>
            </a:r>
            <a:r>
              <a:rPr lang="en-US" b="1" dirty="0">
                <a:latin typeface="Comic Sans MS" panose="030F0702030302020204" pitchFamily="66" charset="0"/>
              </a:rPr>
              <a:t>393</a:t>
            </a:r>
            <a:r>
              <a:rPr lang="en-US" dirty="0">
                <a:latin typeface="Comic Sans MS" panose="030F0702030302020204" pitchFamily="66" charset="0"/>
              </a:rPr>
              <a:t> (6684): 440–442</a:t>
            </a:r>
            <a:endParaRPr lang="en-US" dirty="0" smtClean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Página del equipo de investigación de </a:t>
            </a:r>
            <a:r>
              <a:rPr lang="es-AR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facebook</a:t>
            </a:r>
            <a:r>
              <a:rPr lang="es-AR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es-AR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  <a:hlinkClick r:id="rId6"/>
              </a:rPr>
              <a:t>https://research.fb.com/three-and-a-half-degrees-of-separation</a:t>
            </a:r>
            <a:endParaRPr lang="es-AR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Página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para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jugar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con el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número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de Bacon http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://oracleofbacon.org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//</a:t>
            </a:r>
            <a:endParaRPr lang="es-AR" dirty="0">
              <a:latin typeface="Comic Sans MS" panose="030F0702030302020204" pitchFamily="66" charset="0"/>
            </a:endParaRPr>
          </a:p>
          <a:p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04141348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r>
              <a:rPr lang="es-AR" sz="4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Referencias y material adicional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4" name="Rectángulo 3"/>
          <p:cNvSpPr/>
          <p:nvPr/>
        </p:nvSpPr>
        <p:spPr>
          <a:xfrm>
            <a:off x="661917" y="1600199"/>
            <a:ext cx="764957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dirty="0" err="1" smtClean="0">
                <a:latin typeface="Comic Sans MS" panose="030F0702030302020204" pitchFamily="66" charset="0"/>
              </a:rPr>
              <a:t>Szeto</a:t>
            </a:r>
            <a:r>
              <a:rPr lang="es-AR" dirty="0">
                <a:latin typeface="Comic Sans MS" panose="030F0702030302020204" pitchFamily="66" charset="0"/>
              </a:rPr>
              <a:t>, K. Y., Fu, X. &amp; </a:t>
            </a:r>
            <a:r>
              <a:rPr lang="es-AR" dirty="0" err="1">
                <a:latin typeface="Comic Sans MS" panose="030F0702030302020204" pitchFamily="66" charset="0"/>
              </a:rPr>
              <a:t>Tam</a:t>
            </a:r>
            <a:r>
              <a:rPr lang="es-AR" dirty="0">
                <a:latin typeface="Comic Sans MS" panose="030F0702030302020204" pitchFamily="66" charset="0"/>
              </a:rPr>
              <a:t>, W. Y. (2002). Universal </a:t>
            </a:r>
            <a:r>
              <a:rPr lang="es-AR" dirty="0" err="1">
                <a:latin typeface="Comic Sans MS" panose="030F0702030302020204" pitchFamily="66" charset="0"/>
              </a:rPr>
              <a:t>topological</a:t>
            </a:r>
            <a:r>
              <a:rPr lang="es-AR" dirty="0">
                <a:latin typeface="Comic Sans MS" panose="030F0702030302020204" pitchFamily="66" charset="0"/>
              </a:rPr>
              <a:t> </a:t>
            </a:r>
            <a:r>
              <a:rPr lang="es-AR" dirty="0" err="1">
                <a:latin typeface="Comic Sans MS" panose="030F0702030302020204" pitchFamily="66" charset="0"/>
              </a:rPr>
              <a:t>properties</a:t>
            </a:r>
            <a:r>
              <a:rPr lang="es-AR" dirty="0">
                <a:latin typeface="Comic Sans MS" panose="030F0702030302020204" pitchFamily="66" charset="0"/>
              </a:rPr>
              <a:t> of </a:t>
            </a:r>
            <a:r>
              <a:rPr lang="es-AR" dirty="0" err="1" smtClean="0">
                <a:latin typeface="Comic Sans MS" panose="030F0702030302020204" pitchFamily="66" charset="0"/>
              </a:rPr>
              <a:t>two</a:t>
            </a:r>
            <a:r>
              <a:rPr lang="es-AR" dirty="0" smtClean="0">
                <a:latin typeface="Comic Sans MS" panose="030F0702030302020204" pitchFamily="66" charset="0"/>
              </a:rPr>
              <a:t>-dimensional </a:t>
            </a:r>
            <a:r>
              <a:rPr lang="en-US" dirty="0" smtClean="0">
                <a:latin typeface="Comic Sans MS" panose="030F0702030302020204" pitchFamily="66" charset="0"/>
              </a:rPr>
              <a:t>trivalent </a:t>
            </a:r>
            <a:r>
              <a:rPr lang="en-US" dirty="0">
                <a:latin typeface="Comic Sans MS" panose="030F0702030302020204" pitchFamily="66" charset="0"/>
              </a:rPr>
              <a:t>cellular patterns. </a:t>
            </a:r>
            <a:r>
              <a:rPr lang="en-US" i="1" dirty="0">
                <a:latin typeface="Comic Sans MS" panose="030F0702030302020204" pitchFamily="66" charset="0"/>
              </a:rPr>
              <a:t>Physical Review Letters</a:t>
            </a:r>
            <a:r>
              <a:rPr lang="en-US" dirty="0">
                <a:latin typeface="Comic Sans MS" panose="030F0702030302020204" pitchFamily="66" charset="0"/>
              </a:rPr>
              <a:t>, 88 (</a:t>
            </a:r>
            <a:r>
              <a:rPr lang="en-US" dirty="0" smtClean="0">
                <a:latin typeface="Comic Sans MS" panose="030F0702030302020204" pitchFamily="66" charset="0"/>
              </a:rPr>
              <a:t>13).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s-AR" dirty="0" err="1" smtClean="0">
                <a:latin typeface="Comic Sans MS" panose="030F0702030302020204" pitchFamily="66" charset="0"/>
              </a:rPr>
              <a:t>Jeong</a:t>
            </a:r>
            <a:r>
              <a:rPr lang="es-AR" dirty="0">
                <a:latin typeface="Comic Sans MS" panose="030F0702030302020204" pitchFamily="66" charset="0"/>
              </a:rPr>
              <a:t>, H., </a:t>
            </a:r>
            <a:r>
              <a:rPr lang="es-AR" dirty="0" err="1">
                <a:latin typeface="Comic Sans MS" panose="030F0702030302020204" pitchFamily="66" charset="0"/>
              </a:rPr>
              <a:t>Tombor</a:t>
            </a:r>
            <a:r>
              <a:rPr lang="es-AR" dirty="0">
                <a:latin typeface="Comic Sans MS" panose="030F0702030302020204" pitchFamily="66" charset="0"/>
              </a:rPr>
              <a:t>, B., Albert, R., </a:t>
            </a:r>
            <a:r>
              <a:rPr lang="es-AR" dirty="0" err="1">
                <a:latin typeface="Comic Sans MS" panose="030F0702030302020204" pitchFamily="66" charset="0"/>
              </a:rPr>
              <a:t>Oltvani</a:t>
            </a:r>
            <a:r>
              <a:rPr lang="es-AR" dirty="0">
                <a:latin typeface="Comic Sans MS" panose="030F0702030302020204" pitchFamily="66" charset="0"/>
              </a:rPr>
              <a:t>, Z. N. &amp; </a:t>
            </a:r>
            <a:r>
              <a:rPr lang="es-AR" dirty="0" err="1">
                <a:latin typeface="Comic Sans MS" panose="030F0702030302020204" pitchFamily="66" charset="0"/>
              </a:rPr>
              <a:t>Barabási</a:t>
            </a:r>
            <a:r>
              <a:rPr lang="es-AR" dirty="0">
                <a:latin typeface="Comic Sans MS" panose="030F0702030302020204" pitchFamily="66" charset="0"/>
              </a:rPr>
              <a:t>, A. L. (2000). </a:t>
            </a:r>
            <a:r>
              <a:rPr lang="es-AR" dirty="0" err="1">
                <a:latin typeface="Comic Sans MS" panose="030F0702030302020204" pitchFamily="66" charset="0"/>
              </a:rPr>
              <a:t>The</a:t>
            </a:r>
            <a:r>
              <a:rPr lang="es-AR" dirty="0">
                <a:latin typeface="Comic Sans MS" panose="030F0702030302020204" pitchFamily="66" charset="0"/>
              </a:rPr>
              <a:t> </a:t>
            </a:r>
            <a:r>
              <a:rPr lang="es-AR" dirty="0" err="1">
                <a:latin typeface="Comic Sans MS" panose="030F0702030302020204" pitchFamily="66" charset="0"/>
              </a:rPr>
              <a:t>large</a:t>
            </a:r>
            <a:r>
              <a:rPr lang="es-AR" dirty="0">
                <a:latin typeface="Comic Sans MS" panose="030F0702030302020204" pitchFamily="66" charset="0"/>
              </a:rPr>
              <a:t> </a:t>
            </a:r>
            <a:r>
              <a:rPr lang="es-AR" dirty="0" err="1" smtClean="0">
                <a:latin typeface="Comic Sans MS" panose="030F0702030302020204" pitchFamily="66" charset="0"/>
              </a:rPr>
              <a:t>scale</a:t>
            </a:r>
            <a:r>
              <a:rPr lang="es-AR" dirty="0" smtClean="0">
                <a:latin typeface="Comic Sans MS" panose="030F0702030302020204" pitchFamily="66" charset="0"/>
              </a:rPr>
              <a:t> </a:t>
            </a:r>
            <a:r>
              <a:rPr lang="en-US" dirty="0" smtClean="0">
                <a:latin typeface="Comic Sans MS" panose="030F0702030302020204" pitchFamily="66" charset="0"/>
              </a:rPr>
              <a:t>organization </a:t>
            </a:r>
            <a:r>
              <a:rPr lang="en-US" dirty="0">
                <a:latin typeface="Comic Sans MS" panose="030F0702030302020204" pitchFamily="66" charset="0"/>
              </a:rPr>
              <a:t>of metabolic networks. </a:t>
            </a:r>
            <a:r>
              <a:rPr lang="en-US" i="1" dirty="0">
                <a:latin typeface="Comic Sans MS" panose="030F0702030302020204" pitchFamily="66" charset="0"/>
              </a:rPr>
              <a:t>Nature</a:t>
            </a:r>
            <a:r>
              <a:rPr lang="en-US" dirty="0">
                <a:latin typeface="Comic Sans MS" panose="030F0702030302020204" pitchFamily="66" charset="0"/>
              </a:rPr>
              <a:t>, 407, </a:t>
            </a:r>
            <a:r>
              <a:rPr lang="en-US" dirty="0" smtClean="0">
                <a:latin typeface="Comic Sans MS" panose="030F0702030302020204" pitchFamily="66" charset="0"/>
              </a:rPr>
              <a:t>651-654.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dirty="0" smtClean="0">
                <a:latin typeface="Comic Sans MS" panose="030F0702030302020204" pitchFamily="66" charset="0"/>
              </a:rPr>
              <a:t>Ferrer </a:t>
            </a:r>
            <a:r>
              <a:rPr lang="en-US" dirty="0" err="1">
                <a:latin typeface="Comic Sans MS" panose="030F0702030302020204" pitchFamily="66" charset="0"/>
              </a:rPr>
              <a:t>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Cancho</a:t>
            </a:r>
            <a:r>
              <a:rPr lang="en-US" dirty="0">
                <a:latin typeface="Comic Sans MS" panose="030F0702030302020204" pitchFamily="66" charset="0"/>
              </a:rPr>
              <a:t>, R. &amp; </a:t>
            </a:r>
            <a:r>
              <a:rPr lang="en-US" dirty="0" err="1">
                <a:latin typeface="Comic Sans MS" panose="030F0702030302020204" pitchFamily="66" charset="0"/>
              </a:rPr>
              <a:t>Solé</a:t>
            </a:r>
            <a:r>
              <a:rPr lang="en-US" dirty="0">
                <a:latin typeface="Comic Sans MS" panose="030F0702030302020204" pitchFamily="66" charset="0"/>
              </a:rPr>
              <a:t>, R. V. (2001). The small world of human language. </a:t>
            </a:r>
            <a:r>
              <a:rPr lang="en-US" i="1" dirty="0">
                <a:latin typeface="Comic Sans MS" panose="030F0702030302020204" pitchFamily="66" charset="0"/>
              </a:rPr>
              <a:t>Proceedings </a:t>
            </a:r>
            <a:r>
              <a:rPr lang="en-US" i="1" dirty="0" smtClean="0">
                <a:latin typeface="Comic Sans MS" panose="030F0702030302020204" pitchFamily="66" charset="0"/>
              </a:rPr>
              <a:t>of  the </a:t>
            </a:r>
            <a:r>
              <a:rPr lang="en-US" i="1" dirty="0">
                <a:latin typeface="Comic Sans MS" panose="030F0702030302020204" pitchFamily="66" charset="0"/>
              </a:rPr>
              <a:t>Royal Society of London</a:t>
            </a:r>
            <a:r>
              <a:rPr lang="en-US" dirty="0">
                <a:latin typeface="Comic Sans MS" panose="030F0702030302020204" pitchFamily="66" charset="0"/>
              </a:rPr>
              <a:t>, 268, 2261-2265.</a:t>
            </a:r>
            <a:endParaRPr lang="es-AR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60795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CustomShape 2"/>
          <p:cNvSpPr/>
          <p:nvPr/>
        </p:nvSpPr>
        <p:spPr>
          <a:xfrm>
            <a:off x="457200" y="1600200"/>
            <a:ext cx="7185546" cy="1443251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dirty="0"/>
          </a:p>
          <a:p>
            <a:pPr algn="ctr">
              <a:lnSpc>
                <a:spcPct val="100000"/>
              </a:lnSpc>
            </a:pPr>
            <a:r>
              <a:rPr lang="es-AR" sz="5400" b="1" dirty="0">
                <a:solidFill>
                  <a:srgbClr val="FF6600"/>
                </a:solidFill>
                <a:latin typeface="Comic Sans MS" panose="030F0702030302020204" pitchFamily="66" charset="0"/>
              </a:rPr>
              <a:t>Gracias!</a:t>
            </a:r>
            <a:endParaRPr sz="5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915120" y="300971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CustomShape 2"/>
          <p:cNvSpPr/>
          <p:nvPr/>
        </p:nvSpPr>
        <p:spPr>
          <a:xfrm>
            <a:off x="-184245" y="-84814"/>
            <a:ext cx="7185546" cy="1443251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dirty="0"/>
          </a:p>
          <a:p>
            <a:pPr algn="ctr">
              <a:lnSpc>
                <a:spcPct val="100000"/>
              </a:lnSpc>
            </a:pPr>
            <a:r>
              <a:rPr lang="es-AR" sz="6000" dirty="0">
                <a:solidFill>
                  <a:srgbClr val="FF6600"/>
                </a:solidFill>
                <a:latin typeface="Comic Sans MS" panose="030F0702030302020204" pitchFamily="66" charset="0"/>
              </a:rPr>
              <a:t>m</a:t>
            </a:r>
            <a:r>
              <a:rPr lang="es-AR" sz="6000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i mundo pequeño</a:t>
            </a:r>
            <a:endParaRPr sz="6000" dirty="0">
              <a:latin typeface="Comic Sans MS" panose="030F0702030302020204" pitchFamily="66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924" y="2716873"/>
            <a:ext cx="6898343" cy="38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4488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2259</Words>
  <Application>Microsoft Office PowerPoint</Application>
  <PresentationFormat>Presentación en pantalla (4:3)</PresentationFormat>
  <Paragraphs>629</Paragraphs>
  <Slides>101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101</vt:i4>
      </vt:variant>
    </vt:vector>
  </HeadingPairs>
  <TitlesOfParts>
    <vt:vector size="113" baseType="lpstr">
      <vt:lpstr>Arial</vt:lpstr>
      <vt:lpstr>Cambria Math</vt:lpstr>
      <vt:lpstr>Comic Sans MS</vt:lpstr>
      <vt:lpstr>DejaVu Sans</vt:lpstr>
      <vt:lpstr>Droid Sans Fallback</vt:lpstr>
      <vt:lpstr>FreeSans</vt:lpstr>
      <vt:lpstr>Georgia, 'Times New Roman', ser</vt:lpstr>
      <vt:lpstr>Liberation Serif</vt:lpstr>
      <vt:lpstr>StarSymbol</vt:lpstr>
      <vt:lpstr>Wingdings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</dc:creator>
  <cp:lastModifiedBy>daniela</cp:lastModifiedBy>
  <cp:revision>164</cp:revision>
  <dcterms:modified xsi:type="dcterms:W3CDTF">2017-04-26T02:36:14Z</dcterms:modified>
</cp:coreProperties>
</file>